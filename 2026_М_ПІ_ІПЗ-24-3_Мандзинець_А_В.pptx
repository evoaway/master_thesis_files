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69" r:id="rId5"/>
    <p:sldId id="268" r:id="rId6"/>
    <p:sldId id="259" r:id="rId7"/>
    <p:sldId id="260" r:id="rId8"/>
    <p:sldId id="262" r:id="rId9"/>
    <p:sldId id="261" r:id="rId10"/>
    <p:sldId id="263" r:id="rId11"/>
    <p:sldId id="264" r:id="rId12"/>
    <p:sldId id="265" r:id="rId13"/>
    <p:sldId id="270" r:id="rId14"/>
    <p:sldId id="271" r:id="rId15"/>
    <p:sldId id="266" r:id="rId16"/>
    <p:sldId id="267" r:id="rId17"/>
    <p:sldId id="272" r:id="rId18"/>
    <p:sldId id="273" r:id="rId19"/>
  </p:sldIdLst>
  <p:sldSz cx="9144000" cy="5143500" type="screen16x9"/>
  <p:notesSz cx="6858000" cy="9144000"/>
  <p:embeddedFontLst>
    <p:embeddedFont>
      <p:font typeface="Economica" panose="020B0604020202020204" charset="0"/>
      <p:regular r:id="rId21"/>
      <p:bold r:id="rId22"/>
      <p:italic r:id="rId23"/>
      <p:boldItalic r:id="rId24"/>
    </p:embeddedFont>
    <p:embeddedFont>
      <p:font typeface="Open Sans" panose="020B060603050402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889" autoAdjust="0"/>
  </p:normalViewPr>
  <p:slideViewPr>
    <p:cSldViewPr snapToGrid="0">
      <p:cViewPr varScale="1">
        <p:scale>
          <a:sx n="75" d="100"/>
          <a:sy n="75" d="100"/>
        </p:scale>
        <p:origin x="1666"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Добрий день, шановні члени комісії мене звати Анатолій Мандзинець. Сьогодні я хотів би </a:t>
            </a:r>
            <a:r>
              <a:rPr lang="ru-RU" dirty="0" err="1"/>
              <a:t>представити</a:t>
            </a:r>
            <a:r>
              <a:rPr lang="ru-RU" dirty="0"/>
              <a:t> </a:t>
            </a:r>
            <a:r>
              <a:rPr lang="ru-RU" dirty="0" err="1"/>
              <a:t>вашій</a:t>
            </a:r>
            <a:r>
              <a:rPr lang="ru-RU" dirty="0"/>
              <a:t> </a:t>
            </a:r>
            <a:r>
              <a:rPr lang="ru-RU" dirty="0" err="1"/>
              <a:t>увазі</a:t>
            </a:r>
            <a:r>
              <a:rPr lang="ru-RU" dirty="0"/>
              <a:t> </a:t>
            </a:r>
            <a:r>
              <a:rPr lang="ru-RU" dirty="0" err="1"/>
              <a:t>кваліфікаційну</a:t>
            </a:r>
            <a:r>
              <a:rPr lang="ru-RU" dirty="0"/>
              <a:t> роботу </a:t>
            </a:r>
            <a:r>
              <a:rPr lang="ru-RU" dirty="0" err="1"/>
              <a:t>магістра</a:t>
            </a:r>
            <a:r>
              <a:rPr lang="ru-RU" dirty="0"/>
              <a:t> на тему </a:t>
            </a:r>
            <a:r>
              <a:rPr lang="ru-RU" sz="1100" dirty="0" err="1"/>
              <a:t>Дослідження</a:t>
            </a:r>
            <a:r>
              <a:rPr lang="ru-RU" sz="1100" dirty="0"/>
              <a:t> </a:t>
            </a:r>
            <a:r>
              <a:rPr lang="ru-RU" sz="1100" dirty="0" err="1"/>
              <a:t>методів</a:t>
            </a:r>
            <a:r>
              <a:rPr lang="ru-RU" sz="1100" dirty="0"/>
              <a:t> </a:t>
            </a:r>
            <a:r>
              <a:rPr lang="ru-RU" sz="1100" dirty="0" err="1"/>
              <a:t>виявлення</a:t>
            </a:r>
            <a:r>
              <a:rPr lang="ru-RU" sz="1100" dirty="0"/>
              <a:t> </a:t>
            </a:r>
            <a:r>
              <a:rPr lang="ru-RU" sz="1100" dirty="0" err="1"/>
              <a:t>парафразів</a:t>
            </a:r>
            <a:r>
              <a:rPr lang="ru-RU" sz="1100" dirty="0"/>
              <a:t> у </a:t>
            </a:r>
            <a:r>
              <a:rPr lang="ru-RU" sz="1100" dirty="0" err="1"/>
              <a:t>текстових</a:t>
            </a:r>
            <a:r>
              <a:rPr lang="ru-RU" sz="1100" dirty="0"/>
              <a:t> </a:t>
            </a:r>
            <a:r>
              <a:rPr lang="ru-RU" sz="1100" dirty="0" err="1"/>
              <a:t>даних</a:t>
            </a:r>
            <a:r>
              <a:rPr lang="ru-RU" sz="1100" dirty="0"/>
              <a:t> для автоматичного </a:t>
            </a:r>
            <a:r>
              <a:rPr lang="ru-RU" sz="1100" dirty="0" err="1"/>
              <a:t>визначення</a:t>
            </a:r>
            <a:r>
              <a:rPr lang="ru-RU" sz="1100" dirty="0"/>
              <a:t> </a:t>
            </a:r>
            <a:r>
              <a:rPr lang="ru-RU" sz="1100" dirty="0" err="1"/>
              <a:t>плагіату</a:t>
            </a:r>
            <a:r>
              <a:rPr lang="ru-RU" sz="1100" dirty="0"/>
              <a:t>. </a:t>
            </a:r>
            <a:r>
              <a:rPr lang="ru-RU" dirty="0"/>
              <a:t>Робота </a:t>
            </a:r>
            <a:r>
              <a:rPr lang="ru-RU" dirty="0" err="1"/>
              <a:t>виконана</a:t>
            </a:r>
            <a:r>
              <a:rPr lang="ru-RU" dirty="0"/>
              <a:t> </a:t>
            </a:r>
            <a:r>
              <a:rPr lang="ru-RU" dirty="0" err="1"/>
              <a:t>під</a:t>
            </a:r>
            <a:r>
              <a:rPr lang="ru-RU" dirty="0"/>
              <a:t> </a:t>
            </a:r>
            <a:r>
              <a:rPr lang="ru-RU" dirty="0" err="1"/>
              <a:t>керівництвом</a:t>
            </a:r>
            <a:r>
              <a:rPr lang="ru-RU" dirty="0"/>
              <a:t> </a:t>
            </a:r>
            <a:r>
              <a:rPr lang="ru-RU" dirty="0" err="1"/>
              <a:t>Вечура</a:t>
            </a:r>
            <a:r>
              <a:rPr lang="ru-RU" dirty="0"/>
              <a:t> Олександра </a:t>
            </a:r>
            <a:r>
              <a:rPr lang="ru-RU" dirty="0" err="1"/>
              <a:t>Володимировича</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0ddf96669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0ddf96669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Актуальність обраної теми зумовлена кількома факторами. По-перше, поширенням сервісів автоматичного перефразування</a:t>
            </a:r>
            <a:r>
              <a:rPr lang="en-US" dirty="0"/>
              <a:t>, </a:t>
            </a:r>
            <a:r>
              <a:rPr lang="uk-UA" dirty="0"/>
              <a:t>а в останні роки і великих </a:t>
            </a:r>
            <a:r>
              <a:rPr lang="uk-UA" dirty="0" err="1"/>
              <a:t>мовних</a:t>
            </a:r>
            <a:r>
              <a:rPr lang="uk-UA" dirty="0"/>
              <a:t> моделей, як-от </a:t>
            </a:r>
            <a:r>
              <a:rPr lang="en-US" dirty="0"/>
              <a:t>ChatGPT. </a:t>
            </a:r>
            <a:r>
              <a:rPr lang="uk-UA" dirty="0"/>
              <a:t>Це створює ситуацію, коли людина може за секунди переписати запозичений текст у спосіб, що зберігає його зміст, тобто створити парафраз. З графіку статті, що фокусувалася на цьому питанні видно, що кількість досліджень про виявлення плагіату зросла з моменту поширення </a:t>
            </a:r>
            <a:r>
              <a:rPr lang="uk-UA" dirty="0" err="1"/>
              <a:t>мовних</a:t>
            </a:r>
            <a:r>
              <a:rPr lang="uk-UA" dirty="0"/>
              <a:t> моделей. Дослідження показують, що тексти, перефразовані сучасними моделями </a:t>
            </a:r>
            <a:r>
              <a:rPr lang="uk-UA" dirty="0" err="1"/>
              <a:t>трансформерів</a:t>
            </a:r>
            <a:r>
              <a:rPr lang="uk-UA" dirty="0"/>
              <a:t>, важко виявити сучасними інструментами </a:t>
            </a:r>
            <a:r>
              <a:rPr lang="uk-UA" dirty="0" err="1"/>
              <a:t>антиплагіату</a:t>
            </a:r>
            <a:r>
              <a:rPr lang="en-US" dirty="0"/>
              <a:t>. </a:t>
            </a:r>
            <a:r>
              <a:rPr lang="uk-UA" dirty="0"/>
              <a:t>Водночас заклади вищої зобов'язані перевіряти роботи на оригінальність. Тобто ми маємо ситуацію, коли доступні технологічні рішення не справляються з найпоширенішою сучасною формою плагіату. Це і визначає актуальність роботи.</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16b2ad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uk-UA" dirty="0"/>
              <a:t>Об'єктом дослідження є </a:t>
            </a:r>
            <a:r>
              <a:rPr lang="ru-RU" dirty="0" err="1"/>
              <a:t>процес</a:t>
            </a:r>
            <a:r>
              <a:rPr lang="ru-RU" dirty="0"/>
              <a:t> автоматичного </a:t>
            </a:r>
            <a:r>
              <a:rPr lang="ru-RU" dirty="0" err="1"/>
              <a:t>виявлення</a:t>
            </a:r>
            <a:r>
              <a:rPr lang="ru-RU" dirty="0"/>
              <a:t> </a:t>
            </a:r>
            <a:r>
              <a:rPr lang="ru-RU" dirty="0" err="1"/>
              <a:t>плагіату</a:t>
            </a:r>
            <a:r>
              <a:rPr lang="ru-RU" dirty="0"/>
              <a:t> у </a:t>
            </a:r>
            <a:r>
              <a:rPr lang="ru-RU" dirty="0" err="1"/>
              <a:t>текстових</a:t>
            </a:r>
            <a:r>
              <a:rPr lang="ru-RU" dirty="0"/>
              <a:t> документах</a:t>
            </a:r>
            <a:r>
              <a:rPr lang="uk-UA" dirty="0"/>
              <a:t>. Предмет — </a:t>
            </a:r>
            <a:r>
              <a:rPr lang="ru-RU" dirty="0" err="1"/>
              <a:t>методи</a:t>
            </a:r>
            <a:r>
              <a:rPr lang="ru-RU" dirty="0"/>
              <a:t> </a:t>
            </a:r>
            <a:r>
              <a:rPr lang="ru-RU" dirty="0" err="1"/>
              <a:t>виявлення</a:t>
            </a:r>
            <a:r>
              <a:rPr lang="ru-RU" dirty="0"/>
              <a:t> </a:t>
            </a:r>
            <a:r>
              <a:rPr lang="ru-RU" dirty="0" err="1"/>
              <a:t>подібності</a:t>
            </a:r>
            <a:r>
              <a:rPr lang="ru-RU" dirty="0"/>
              <a:t> </a:t>
            </a:r>
            <a:r>
              <a:rPr lang="ru-RU" dirty="0" err="1"/>
              <a:t>між</a:t>
            </a:r>
            <a:r>
              <a:rPr lang="ru-RU" dirty="0"/>
              <a:t> </a:t>
            </a:r>
            <a:r>
              <a:rPr lang="ru-RU" dirty="0" err="1"/>
              <a:t>перефразованими</a:t>
            </a:r>
            <a:r>
              <a:rPr lang="ru-RU" dirty="0"/>
              <a:t> парами </a:t>
            </a:r>
            <a:r>
              <a:rPr lang="ru-RU" dirty="0" err="1"/>
              <a:t>речень</a:t>
            </a:r>
            <a:r>
              <a:rPr lang="ru-RU" dirty="0"/>
              <a:t> для </a:t>
            </a:r>
            <a:r>
              <a:rPr lang="ru-RU" dirty="0" err="1"/>
              <a:t>української</a:t>
            </a:r>
            <a:r>
              <a:rPr lang="ru-RU" dirty="0"/>
              <a:t> та </a:t>
            </a:r>
            <a:r>
              <a:rPr lang="ru-RU" dirty="0" err="1"/>
              <a:t>англійської</a:t>
            </a:r>
            <a:r>
              <a:rPr lang="ru-RU" dirty="0"/>
              <a:t> мов як основа </a:t>
            </a:r>
            <a:r>
              <a:rPr lang="ru-RU" dirty="0" err="1"/>
              <a:t>системи</a:t>
            </a:r>
            <a:r>
              <a:rPr lang="ru-RU" dirty="0"/>
              <a:t> </a:t>
            </a:r>
            <a:r>
              <a:rPr lang="ru-RU" dirty="0" err="1"/>
              <a:t>виявлення</a:t>
            </a:r>
            <a:r>
              <a:rPr lang="ru-RU" dirty="0"/>
              <a:t> </a:t>
            </a:r>
            <a:r>
              <a:rPr lang="ru-RU" dirty="0" err="1"/>
              <a:t>плагіату</a:t>
            </a:r>
            <a:r>
              <a:rPr lang="ru-RU" dirty="0"/>
              <a:t> у </a:t>
            </a:r>
            <a:r>
              <a:rPr lang="ru-RU" dirty="0" err="1"/>
              <a:t>текстових</a:t>
            </a:r>
            <a:r>
              <a:rPr lang="ru-RU" dirty="0"/>
              <a:t> </a:t>
            </a:r>
            <a:r>
              <a:rPr lang="ru-RU" dirty="0" err="1"/>
              <a:t>даних</a:t>
            </a:r>
            <a:r>
              <a:rPr lang="ru-RU" dirty="0"/>
              <a:t>.  </a:t>
            </a:r>
            <a:r>
              <a:rPr lang="ru-RU" dirty="0" err="1"/>
              <a:t>Науковою</a:t>
            </a:r>
            <a:r>
              <a:rPr lang="ru-RU" dirty="0"/>
              <a:t> </a:t>
            </a:r>
            <a:r>
              <a:rPr lang="ru-RU" dirty="0" err="1"/>
              <a:t>прогалною</a:t>
            </a:r>
            <a:r>
              <a:rPr lang="ru-RU" dirty="0"/>
              <a:t>, яку </a:t>
            </a:r>
            <a:r>
              <a:rPr lang="ru-RU" dirty="0" err="1"/>
              <a:t>намагається</a:t>
            </a:r>
            <a:r>
              <a:rPr lang="ru-RU" dirty="0"/>
              <a:t> </a:t>
            </a:r>
            <a:r>
              <a:rPr lang="ru-RU" dirty="0" err="1"/>
              <a:t>заповниити</a:t>
            </a:r>
            <a:r>
              <a:rPr lang="ru-RU" dirty="0"/>
              <a:t> </a:t>
            </a:r>
            <a:r>
              <a:rPr lang="ru-RU" dirty="0" err="1"/>
              <a:t>дослідження</a:t>
            </a:r>
            <a:r>
              <a:rPr lang="ru-RU" dirty="0"/>
              <a:t> є </a:t>
            </a:r>
            <a:r>
              <a:rPr lang="ru-RU" dirty="0" err="1"/>
              <a:t>вияснення</a:t>
            </a:r>
            <a:r>
              <a:rPr lang="ru-RU" dirty="0"/>
              <a:t> </a:t>
            </a:r>
            <a:r>
              <a:rPr lang="ru-RU" dirty="0" err="1"/>
              <a:t>ефективності</a:t>
            </a:r>
            <a:r>
              <a:rPr lang="ru-RU" dirty="0"/>
              <a:t> </a:t>
            </a:r>
            <a:r>
              <a:rPr lang="ru-RU" dirty="0" err="1"/>
              <a:t>двоступеневих</a:t>
            </a:r>
            <a:r>
              <a:rPr lang="ru-RU" dirty="0"/>
              <a:t> </a:t>
            </a:r>
            <a:r>
              <a:rPr lang="ru-RU" dirty="0" err="1"/>
              <a:t>архітектур</a:t>
            </a:r>
            <a:r>
              <a:rPr lang="ru-RU" dirty="0"/>
              <a:t> </a:t>
            </a:r>
            <a:r>
              <a:rPr lang="en-US" dirty="0">
                <a:latin typeface="Economica" panose="020B0604020202020204" charset="0"/>
              </a:rPr>
              <a:t>Retrieve and Re-Rank</a:t>
            </a:r>
            <a:r>
              <a:rPr lang="ru-RU" dirty="0"/>
              <a:t> та </a:t>
            </a:r>
            <a:r>
              <a:rPr lang="ru-RU" dirty="0" err="1"/>
              <a:t>донавчання</a:t>
            </a:r>
            <a:r>
              <a:rPr lang="ru-RU" dirty="0"/>
              <a:t> на </a:t>
            </a:r>
            <a:r>
              <a:rPr lang="ru-RU" dirty="0" err="1"/>
              <a:t>об’єднаних</a:t>
            </a:r>
            <a:r>
              <a:rPr lang="ru-RU" dirty="0"/>
              <a:t> датасетах для </a:t>
            </a:r>
            <a:r>
              <a:rPr lang="ru-RU" dirty="0" err="1"/>
              <a:t>української</a:t>
            </a:r>
            <a:r>
              <a:rPr lang="ru-RU" dirty="0"/>
              <a:t> </a:t>
            </a:r>
            <a:r>
              <a:rPr lang="ru-RU" dirty="0" err="1"/>
              <a:t>мови</a:t>
            </a:r>
            <a:r>
              <a:rPr lang="ru-RU" dirty="0"/>
              <a:t>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CD2A61DF-B264-AA82-2833-608D0066DDBD}"/>
            </a:ext>
          </a:extLst>
        </p:cNvPr>
        <p:cNvGrpSpPr/>
        <p:nvPr/>
      </p:nvGrpSpPr>
      <p:grpSpPr>
        <a:xfrm>
          <a:off x="0" y="0"/>
          <a:ext cx="0" cy="0"/>
          <a:chOff x="0" y="0"/>
          <a:chExt cx="0" cy="0"/>
        </a:xfrm>
      </p:grpSpPr>
      <p:sp>
        <p:nvSpPr>
          <p:cNvPr id="75" name="Google Shape;75;g2e16b2adad1_0_0:notes">
            <a:extLst>
              <a:ext uri="{FF2B5EF4-FFF2-40B4-BE49-F238E27FC236}">
                <a16:creationId xmlns:a16="http://schemas.microsoft.com/office/drawing/2014/main" id="{EB6989F3-11B8-905F-B9AC-8F83C9131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a:extLst>
              <a:ext uri="{FF2B5EF4-FFF2-40B4-BE49-F238E27FC236}">
                <a16:creationId xmlns:a16="http://schemas.microsoft.com/office/drawing/2014/main" id="{C03A01D1-8AA3-BA98-29F2-51FE042DE0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Перейдемо до огляду наукових джерел. У літературі методи виявлення парафразів еволюціонували від класичних лексичних — </a:t>
            </a:r>
            <a:r>
              <a:rPr lang="en-US" dirty="0"/>
              <a:t>TF-IDF </a:t>
            </a:r>
            <a:r>
              <a:rPr lang="uk-UA" dirty="0"/>
              <a:t>та коефіцієнт </a:t>
            </a:r>
            <a:r>
              <a:rPr lang="uk-UA" dirty="0" err="1"/>
              <a:t>Жаккара</a:t>
            </a:r>
            <a:r>
              <a:rPr lang="uk-UA" dirty="0"/>
              <a:t> на </a:t>
            </a:r>
            <a:r>
              <a:rPr lang="en-US" dirty="0"/>
              <a:t>n-</a:t>
            </a:r>
            <a:r>
              <a:rPr lang="uk-UA" dirty="0"/>
              <a:t>грамах — до сучасних нейронних. Важливий прорив стався у 2019 році з появою </a:t>
            </a:r>
            <a:r>
              <a:rPr lang="en-US" dirty="0"/>
              <a:t>Sentence-BERT</a:t>
            </a:r>
            <a:r>
              <a:rPr lang="uk-UA" dirty="0"/>
              <a:t> — це </a:t>
            </a:r>
            <a:r>
              <a:rPr lang="uk-UA" dirty="0" err="1"/>
              <a:t>бі-енкодерна</a:t>
            </a:r>
            <a:r>
              <a:rPr lang="uk-UA" dirty="0"/>
              <a:t> архітектура, що дозволяє швидко індексувати корпуси у мільйони речень. Концепція крос-</a:t>
            </a:r>
            <a:r>
              <a:rPr lang="uk-UA" dirty="0" err="1"/>
              <a:t>енкодера</a:t>
            </a:r>
            <a:r>
              <a:rPr lang="uk-UA" dirty="0"/>
              <a:t> з'явилася разом з оригінальною статтею про </a:t>
            </a:r>
            <a:r>
              <a:rPr lang="en-US" dirty="0"/>
              <a:t>BERT</a:t>
            </a:r>
            <a:r>
              <a:rPr lang="uk-UA" dirty="0"/>
              <a:t>, така модель ефективно визначає семантичну подібність між реченнями приймаючи їх на вхід разом. Щоб </a:t>
            </a:r>
            <a:r>
              <a:rPr lang="uk-UA" dirty="0" err="1"/>
              <a:t>скомпенсувати</a:t>
            </a:r>
            <a:r>
              <a:rPr lang="uk-UA" dirty="0"/>
              <a:t> слабкі сторони обох методів використовують двоетапну архітектуру.</a:t>
            </a:r>
            <a:r>
              <a:rPr lang="en-US" dirty="0"/>
              <a:t> </a:t>
            </a:r>
            <a:r>
              <a:rPr lang="uk-UA" dirty="0"/>
              <a:t>Де на першому етапі швидший, але менш точний </a:t>
            </a:r>
            <a:r>
              <a:rPr lang="uk-UA" dirty="0" err="1"/>
              <a:t>бі-енкодера</a:t>
            </a:r>
            <a:r>
              <a:rPr lang="uk-UA" dirty="0"/>
              <a:t> знаходить певну кількість кандидатів, а потім точніший, але повільніший крос-</a:t>
            </a:r>
            <a:r>
              <a:rPr lang="uk-UA" dirty="0" err="1"/>
              <a:t>енкодер</a:t>
            </a:r>
            <a:r>
              <a:rPr lang="uk-UA" dirty="0"/>
              <a:t> </a:t>
            </a:r>
            <a:r>
              <a:rPr lang="uk-UA" dirty="0" err="1"/>
              <a:t>переранжовує</a:t>
            </a:r>
            <a:r>
              <a:rPr lang="uk-UA" dirty="0"/>
              <a:t> цей обмежений набір прикладів, щоб видати фінальну оцінку. У літературі також показано інші види </a:t>
            </a:r>
            <a:r>
              <a:rPr lang="uk-UA" dirty="0" err="1"/>
              <a:t>поєнання</a:t>
            </a:r>
            <a:r>
              <a:rPr lang="uk-UA" dirty="0"/>
              <a:t> цих підходів, наприклад, через конкатенацію векторів. Загалом же така </a:t>
            </a:r>
            <a:r>
              <a:rPr lang="uk-UA" dirty="0" err="1"/>
              <a:t>двостадійна</a:t>
            </a:r>
            <a:r>
              <a:rPr lang="uk-UA" dirty="0"/>
              <a:t> архітектура дуже поширена наприклад у змаганнях з виявлення плагіату.</a:t>
            </a:r>
            <a:endParaRPr dirty="0"/>
          </a:p>
        </p:txBody>
      </p:sp>
    </p:spTree>
    <p:extLst>
      <p:ext uri="{BB962C8B-B14F-4D97-AF65-F5344CB8AC3E}">
        <p14:creationId xmlns:p14="http://schemas.microsoft.com/office/powerpoint/2010/main" val="1210411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A088EE9-FB86-4C7A-D3E7-C258C3BFE9DC}"/>
            </a:ext>
          </a:extLst>
        </p:cNvPr>
        <p:cNvGrpSpPr/>
        <p:nvPr/>
      </p:nvGrpSpPr>
      <p:grpSpPr>
        <a:xfrm>
          <a:off x="0" y="0"/>
          <a:ext cx="0" cy="0"/>
          <a:chOff x="0" y="0"/>
          <a:chExt cx="0" cy="0"/>
        </a:xfrm>
      </p:grpSpPr>
      <p:sp>
        <p:nvSpPr>
          <p:cNvPr id="75" name="Google Shape;75;g2e16b2adad1_0_0:notes">
            <a:extLst>
              <a:ext uri="{FF2B5EF4-FFF2-40B4-BE49-F238E27FC236}">
                <a16:creationId xmlns:a16="http://schemas.microsoft.com/office/drawing/2014/main" id="{8D87502A-AD7F-0267-E3EC-AB7F5C570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a:extLst>
              <a:ext uri="{FF2B5EF4-FFF2-40B4-BE49-F238E27FC236}">
                <a16:creationId xmlns:a16="http://schemas.microsoft.com/office/drawing/2014/main" id="{C79D3FBF-D25D-C192-5F11-02AB7AA307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Окрему досліджено ста українського </a:t>
            </a:r>
            <a:r>
              <a:rPr lang="en-US" dirty="0"/>
              <a:t>NLP</a:t>
            </a:r>
            <a:r>
              <a:rPr lang="uk-UA" dirty="0"/>
              <a:t> контексті виявлення парафраз. Було виявлено та взято до уваги висновки із робіт присвячених створенні моделі машинного навчання для виявлення парафразів, досліджень україномовні моделі на вразливі до атак синонімічних замін. Це прямо торкається теми даної роботи та допомагає точніше оцінити альтернативи при багатокритеріальному виборі. Єдиним </a:t>
            </a:r>
            <a:r>
              <a:rPr lang="uk-UA" dirty="0" err="1"/>
              <a:t>датасетом</a:t>
            </a:r>
            <a:r>
              <a:rPr lang="uk-UA" dirty="0"/>
              <a:t>, що містив перевірені парафрази українською мовою є </a:t>
            </a:r>
            <a:r>
              <a:rPr lang="en-US" dirty="0" err="1"/>
              <a:t>Spivavtor</a:t>
            </a:r>
            <a:r>
              <a:rPr lang="uk-UA" dirty="0"/>
              <a:t>, створений </a:t>
            </a:r>
            <a:r>
              <a:rPr lang="en-US" dirty="0"/>
              <a:t>Grammarly </a:t>
            </a:r>
            <a:r>
              <a:rPr lang="uk-UA" dirty="0"/>
              <a:t>для задачі </a:t>
            </a:r>
            <a:r>
              <a:rPr lang="uk-UA" sz="1100" b="0" i="0" u="none" strike="noStrike" cap="none" dirty="0">
                <a:solidFill>
                  <a:srgbClr val="000000"/>
                </a:solidFill>
                <a:effectLst/>
                <a:latin typeface="Arial"/>
                <a:ea typeface="Arial"/>
                <a:cs typeface="Arial"/>
                <a:sym typeface="Arial"/>
              </a:rPr>
              <a:t>редагування</a:t>
            </a:r>
            <a:r>
              <a:rPr lang="en-US" sz="1100" b="0" i="0" u="none" strike="noStrike" cap="none" dirty="0">
                <a:solidFill>
                  <a:srgbClr val="000000"/>
                </a:solidFill>
                <a:effectLst/>
                <a:latin typeface="Arial"/>
                <a:ea typeface="Arial"/>
                <a:cs typeface="Arial"/>
                <a:sym typeface="Arial"/>
              </a:rPr>
              <a:t> </a:t>
            </a:r>
            <a:r>
              <a:rPr lang="uk-UA" sz="1100" b="0" i="0" u="none" strike="noStrike" cap="none" dirty="0">
                <a:solidFill>
                  <a:srgbClr val="000000"/>
                </a:solidFill>
                <a:effectLst/>
                <a:latin typeface="Arial"/>
                <a:ea typeface="Arial"/>
                <a:cs typeface="Arial"/>
                <a:sym typeface="Arial"/>
              </a:rPr>
              <a:t>речень</a:t>
            </a:r>
            <a:r>
              <a:rPr lang="uk-UA" dirty="0"/>
              <a:t>. Загалом же ця сфера для </a:t>
            </a:r>
            <a:r>
              <a:rPr lang="uk-UA" dirty="0" err="1"/>
              <a:t>укр</a:t>
            </a:r>
            <a:r>
              <a:rPr lang="uk-UA" dirty="0"/>
              <a:t> мови є малодослідженою, а стандартних </a:t>
            </a:r>
            <a:r>
              <a:rPr lang="uk-UA" dirty="0" err="1"/>
              <a:t>датасетів</a:t>
            </a:r>
            <a:r>
              <a:rPr lang="uk-UA" dirty="0"/>
              <a:t> для оцінки методів немає</a:t>
            </a:r>
            <a:endParaRPr dirty="0"/>
          </a:p>
        </p:txBody>
      </p:sp>
    </p:spTree>
    <p:extLst>
      <p:ext uri="{BB962C8B-B14F-4D97-AF65-F5344CB8AC3E}">
        <p14:creationId xmlns:p14="http://schemas.microsoft.com/office/powerpoint/2010/main" val="1512552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На </a:t>
            </a:r>
            <a:r>
              <a:rPr lang="ru-RU" dirty="0" err="1"/>
              <a:t>основі</a:t>
            </a:r>
            <a:r>
              <a:rPr lang="ru-RU" dirty="0"/>
              <a:t> </a:t>
            </a:r>
            <a:r>
              <a:rPr lang="ru-RU" dirty="0" err="1"/>
              <a:t>огляду</a:t>
            </a:r>
            <a:r>
              <a:rPr lang="ru-RU" dirty="0"/>
              <a:t> </a:t>
            </a:r>
            <a:r>
              <a:rPr lang="ru-RU" dirty="0" err="1"/>
              <a:t>було</a:t>
            </a:r>
            <a:r>
              <a:rPr lang="ru-RU" dirty="0"/>
              <a:t> </a:t>
            </a:r>
            <a:r>
              <a:rPr lang="ru-RU" dirty="0" err="1"/>
              <a:t>сформульовано</a:t>
            </a:r>
            <a:r>
              <a:rPr lang="ru-RU" dirty="0"/>
              <a:t> </a:t>
            </a:r>
            <a:r>
              <a:rPr lang="ru-RU" dirty="0" err="1"/>
              <a:t>конкретну</a:t>
            </a:r>
            <a:r>
              <a:rPr lang="ru-RU" dirty="0"/>
              <a:t> </a:t>
            </a:r>
            <a:r>
              <a:rPr lang="ru-RU" dirty="0" err="1"/>
              <a:t>наукову</a:t>
            </a:r>
            <a:r>
              <a:rPr lang="ru-RU" dirty="0"/>
              <a:t> задачу. Мета </a:t>
            </a:r>
            <a:r>
              <a:rPr lang="ru-RU" dirty="0" err="1"/>
              <a:t>роботи</a:t>
            </a:r>
            <a:r>
              <a:rPr lang="ru-RU" dirty="0"/>
              <a:t> — </a:t>
            </a:r>
            <a:r>
              <a:rPr lang="ru-RU" dirty="0" err="1">
                <a:solidFill>
                  <a:srgbClr val="0D0D0D"/>
                </a:solidFill>
                <a:highlight>
                  <a:srgbClr val="FFFFFF"/>
                </a:highlight>
              </a:rPr>
              <a:t>дослідження</a:t>
            </a:r>
            <a:r>
              <a:rPr lang="ru-RU" dirty="0">
                <a:solidFill>
                  <a:srgbClr val="0D0D0D"/>
                </a:solidFill>
                <a:highlight>
                  <a:srgbClr val="FFFFFF"/>
                </a:highlight>
              </a:rPr>
              <a:t> </a:t>
            </a:r>
            <a:r>
              <a:rPr lang="ru-RU" dirty="0" err="1">
                <a:solidFill>
                  <a:srgbClr val="0D0D0D"/>
                </a:solidFill>
                <a:highlight>
                  <a:srgbClr val="FFFFFF"/>
                </a:highlight>
              </a:rPr>
              <a:t>методів</a:t>
            </a:r>
            <a:r>
              <a:rPr lang="ru-RU" dirty="0">
                <a:solidFill>
                  <a:srgbClr val="0D0D0D"/>
                </a:solidFill>
                <a:highlight>
                  <a:srgbClr val="FFFFFF"/>
                </a:highlight>
              </a:rPr>
              <a:t> </a:t>
            </a:r>
            <a:r>
              <a:rPr lang="ru-RU" dirty="0" err="1">
                <a:solidFill>
                  <a:srgbClr val="0D0D0D"/>
                </a:solidFill>
                <a:highlight>
                  <a:srgbClr val="FFFFFF"/>
                </a:highlight>
              </a:rPr>
              <a:t>виявлення</a:t>
            </a:r>
            <a:r>
              <a:rPr lang="ru-RU" dirty="0">
                <a:solidFill>
                  <a:srgbClr val="0D0D0D"/>
                </a:solidFill>
                <a:highlight>
                  <a:srgbClr val="FFFFFF"/>
                </a:highlight>
              </a:rPr>
              <a:t> </a:t>
            </a:r>
            <a:r>
              <a:rPr lang="ru-RU" dirty="0" err="1">
                <a:solidFill>
                  <a:srgbClr val="0D0D0D"/>
                </a:solidFill>
                <a:highlight>
                  <a:srgbClr val="FFFFFF"/>
                </a:highlight>
              </a:rPr>
              <a:t>подібності</a:t>
            </a:r>
            <a:r>
              <a:rPr lang="ru-RU" dirty="0">
                <a:solidFill>
                  <a:srgbClr val="0D0D0D"/>
                </a:solidFill>
                <a:highlight>
                  <a:srgbClr val="FFFFFF"/>
                </a:highlight>
              </a:rPr>
              <a:t> </a:t>
            </a:r>
            <a:r>
              <a:rPr lang="ru-RU" dirty="0" err="1">
                <a:solidFill>
                  <a:srgbClr val="0D0D0D"/>
                </a:solidFill>
                <a:highlight>
                  <a:srgbClr val="FFFFFF"/>
                </a:highlight>
              </a:rPr>
              <a:t>між</a:t>
            </a:r>
            <a:r>
              <a:rPr lang="ru-RU" dirty="0">
                <a:solidFill>
                  <a:srgbClr val="0D0D0D"/>
                </a:solidFill>
                <a:highlight>
                  <a:srgbClr val="FFFFFF"/>
                </a:highlight>
              </a:rPr>
              <a:t> парами </a:t>
            </a:r>
            <a:r>
              <a:rPr lang="ru-RU" dirty="0" err="1">
                <a:solidFill>
                  <a:srgbClr val="0D0D0D"/>
                </a:solidFill>
                <a:highlight>
                  <a:srgbClr val="FFFFFF"/>
                </a:highlight>
              </a:rPr>
              <a:t>речень</a:t>
            </a:r>
            <a:r>
              <a:rPr lang="ru-RU" dirty="0">
                <a:solidFill>
                  <a:srgbClr val="0D0D0D"/>
                </a:solidFill>
                <a:highlight>
                  <a:srgbClr val="FFFFFF"/>
                </a:highlight>
              </a:rPr>
              <a:t> для </a:t>
            </a:r>
            <a:r>
              <a:rPr lang="ru-RU" dirty="0" err="1">
                <a:solidFill>
                  <a:srgbClr val="0D0D0D"/>
                </a:solidFill>
                <a:highlight>
                  <a:srgbClr val="FFFFFF"/>
                </a:highlight>
              </a:rPr>
              <a:t>української</a:t>
            </a:r>
            <a:r>
              <a:rPr lang="ru-RU" dirty="0">
                <a:solidFill>
                  <a:srgbClr val="0D0D0D"/>
                </a:solidFill>
                <a:highlight>
                  <a:srgbClr val="FFFFFF"/>
                </a:highlight>
              </a:rPr>
              <a:t> та </a:t>
            </a:r>
            <a:r>
              <a:rPr lang="ru-RU" dirty="0" err="1">
                <a:solidFill>
                  <a:srgbClr val="0D0D0D"/>
                </a:solidFill>
                <a:highlight>
                  <a:srgbClr val="FFFFFF"/>
                </a:highlight>
              </a:rPr>
              <a:t>англійської</a:t>
            </a:r>
            <a:r>
              <a:rPr lang="ru-RU" dirty="0">
                <a:solidFill>
                  <a:srgbClr val="0D0D0D"/>
                </a:solidFill>
                <a:highlight>
                  <a:srgbClr val="FFFFFF"/>
                </a:highlight>
              </a:rPr>
              <a:t> мов як основа </a:t>
            </a:r>
            <a:r>
              <a:rPr lang="ru-RU" dirty="0" err="1">
                <a:solidFill>
                  <a:srgbClr val="0D0D0D"/>
                </a:solidFill>
                <a:highlight>
                  <a:srgbClr val="FFFFFF"/>
                </a:highlight>
              </a:rPr>
              <a:t>системи</a:t>
            </a:r>
            <a:r>
              <a:rPr lang="ru-RU" dirty="0">
                <a:solidFill>
                  <a:srgbClr val="0D0D0D"/>
                </a:solidFill>
                <a:highlight>
                  <a:srgbClr val="FFFFFF"/>
                </a:highlight>
              </a:rPr>
              <a:t> </a:t>
            </a:r>
            <a:r>
              <a:rPr lang="ru-RU" dirty="0" err="1">
                <a:solidFill>
                  <a:srgbClr val="0D0D0D"/>
                </a:solidFill>
                <a:highlight>
                  <a:srgbClr val="FFFFFF"/>
                </a:highlight>
              </a:rPr>
              <a:t>виявлення</a:t>
            </a:r>
            <a:r>
              <a:rPr lang="ru-RU" dirty="0">
                <a:solidFill>
                  <a:srgbClr val="0D0D0D"/>
                </a:solidFill>
                <a:highlight>
                  <a:srgbClr val="FFFFFF"/>
                </a:highlight>
              </a:rPr>
              <a:t> </a:t>
            </a:r>
            <a:r>
              <a:rPr lang="ru-RU" dirty="0" err="1">
                <a:solidFill>
                  <a:srgbClr val="0D0D0D"/>
                </a:solidFill>
                <a:highlight>
                  <a:srgbClr val="FFFFFF"/>
                </a:highlight>
              </a:rPr>
              <a:t>плагіату</a:t>
            </a:r>
            <a:r>
              <a:rPr lang="ru-RU" dirty="0">
                <a:solidFill>
                  <a:srgbClr val="0D0D0D"/>
                </a:solidFill>
                <a:highlight>
                  <a:srgbClr val="FFFFFF"/>
                </a:highlight>
              </a:rPr>
              <a:t> у </a:t>
            </a:r>
            <a:r>
              <a:rPr lang="ru-RU" dirty="0" err="1">
                <a:solidFill>
                  <a:srgbClr val="0D0D0D"/>
                </a:solidFill>
                <a:highlight>
                  <a:srgbClr val="FFFFFF"/>
                </a:highlight>
              </a:rPr>
              <a:t>текстових</a:t>
            </a:r>
            <a:r>
              <a:rPr lang="ru-RU" dirty="0">
                <a:solidFill>
                  <a:srgbClr val="0D0D0D"/>
                </a:solidFill>
                <a:highlight>
                  <a:srgbClr val="FFFFFF"/>
                </a:highlight>
              </a:rPr>
              <a:t> </a:t>
            </a:r>
            <a:r>
              <a:rPr lang="ru-RU" dirty="0" err="1">
                <a:solidFill>
                  <a:srgbClr val="0D0D0D"/>
                </a:solidFill>
                <a:highlight>
                  <a:srgbClr val="FFFFFF"/>
                </a:highlight>
              </a:rPr>
              <a:t>даних</a:t>
            </a:r>
            <a:r>
              <a:rPr lang="ru-RU" dirty="0"/>
              <a:t>. Для </a:t>
            </a:r>
            <a:r>
              <a:rPr lang="ru-RU" dirty="0" err="1"/>
              <a:t>досягнення</a:t>
            </a:r>
            <a:r>
              <a:rPr lang="ru-RU" dirty="0"/>
              <a:t> мети поставлено </a:t>
            </a:r>
            <a:r>
              <a:rPr lang="ru-RU" dirty="0" err="1"/>
              <a:t>сім</a:t>
            </a:r>
            <a:r>
              <a:rPr lang="ru-RU" dirty="0"/>
              <a:t> </a:t>
            </a:r>
            <a:r>
              <a:rPr lang="ru-RU" dirty="0" err="1"/>
              <a:t>завдань</a:t>
            </a:r>
            <a:r>
              <a:rPr lang="ru-RU" dirty="0"/>
              <a:t>: </a:t>
            </a:r>
            <a:r>
              <a:rPr lang="ru-RU" dirty="0" err="1"/>
              <a:t>сформувати</a:t>
            </a:r>
            <a:r>
              <a:rPr lang="ru-RU" dirty="0"/>
              <a:t> </a:t>
            </a:r>
            <a:r>
              <a:rPr lang="ru-RU" dirty="0" err="1"/>
              <a:t>україномовний</a:t>
            </a:r>
            <a:r>
              <a:rPr lang="ru-RU" dirty="0"/>
              <a:t> </a:t>
            </a:r>
            <a:r>
              <a:rPr lang="ru-RU" dirty="0" err="1"/>
              <a:t>набір</a:t>
            </a:r>
            <a:r>
              <a:rPr lang="ru-RU" dirty="0"/>
              <a:t> </a:t>
            </a:r>
            <a:r>
              <a:rPr lang="ru-RU" dirty="0" err="1"/>
              <a:t>даних</a:t>
            </a:r>
            <a:r>
              <a:rPr lang="ru-RU" dirty="0"/>
              <a:t>, </a:t>
            </a:r>
            <a:r>
              <a:rPr lang="ru-RU" dirty="0" err="1"/>
              <a:t>експериментально</a:t>
            </a:r>
            <a:r>
              <a:rPr lang="ru-RU" dirty="0"/>
              <a:t> </a:t>
            </a:r>
            <a:r>
              <a:rPr lang="ru-RU" dirty="0" err="1"/>
              <a:t>порівняти</a:t>
            </a:r>
            <a:r>
              <a:rPr lang="ru-RU" dirty="0"/>
              <a:t> </a:t>
            </a:r>
            <a:r>
              <a:rPr lang="ru-RU" dirty="0" err="1"/>
              <a:t>шість</a:t>
            </a:r>
            <a:r>
              <a:rPr lang="ru-RU" dirty="0"/>
              <a:t> </a:t>
            </a:r>
            <a:r>
              <a:rPr lang="ru-RU" dirty="0" err="1"/>
              <a:t>методів</a:t>
            </a:r>
            <a:r>
              <a:rPr lang="ru-RU" dirty="0"/>
              <a:t>, провести </a:t>
            </a:r>
            <a:r>
              <a:rPr lang="ru-RU" dirty="0" err="1">
                <a:latin typeface="Economica" panose="020B0604020202020204" charset="0"/>
              </a:rPr>
              <a:t>експериментальне</a:t>
            </a:r>
            <a:r>
              <a:rPr lang="ru-RU" dirty="0">
                <a:latin typeface="Economica" panose="020B0604020202020204" charset="0"/>
              </a:rPr>
              <a:t> </a:t>
            </a:r>
            <a:r>
              <a:rPr lang="ru-RU" dirty="0" err="1">
                <a:latin typeface="Economica" panose="020B0604020202020204" charset="0"/>
              </a:rPr>
              <a:t>порівняння</a:t>
            </a:r>
            <a:r>
              <a:rPr lang="ru-RU" dirty="0">
                <a:latin typeface="Economica" panose="020B0604020202020204" charset="0"/>
              </a:rPr>
              <a:t> </a:t>
            </a:r>
            <a:r>
              <a:rPr lang="ru-RU" dirty="0" err="1">
                <a:latin typeface="Economica" panose="020B0604020202020204" charset="0"/>
              </a:rPr>
              <a:t>методів</a:t>
            </a:r>
            <a:r>
              <a:rPr lang="ru-RU" dirty="0">
                <a:latin typeface="Economica" panose="020B0604020202020204" charset="0"/>
              </a:rPr>
              <a:t> та </a:t>
            </a:r>
            <a:r>
              <a:rPr lang="ru-RU" dirty="0" err="1">
                <a:latin typeface="Economica" panose="020B0604020202020204" charset="0"/>
              </a:rPr>
              <a:t>аналіз</a:t>
            </a:r>
            <a:r>
              <a:rPr lang="ru-RU" dirty="0">
                <a:latin typeface="Economica" panose="020B0604020202020204" charset="0"/>
              </a:rPr>
              <a:t> </a:t>
            </a:r>
            <a:r>
              <a:rPr lang="ru-RU" dirty="0" err="1">
                <a:latin typeface="Economica" panose="020B0604020202020204" charset="0"/>
              </a:rPr>
              <a:t>результаів</a:t>
            </a:r>
            <a:r>
              <a:rPr lang="ru-RU" dirty="0">
                <a:latin typeface="Economica" panose="020B0604020202020204" charset="0"/>
              </a:rPr>
              <a:t>, а також</a:t>
            </a:r>
            <a:r>
              <a:rPr lang="ru-RU" dirty="0"/>
              <a:t> </a:t>
            </a:r>
            <a:r>
              <a:rPr lang="ru-RU" dirty="0" err="1"/>
              <a:t>розробити</a:t>
            </a:r>
            <a:r>
              <a:rPr lang="ru-RU" dirty="0"/>
              <a:t> прототип </a:t>
            </a:r>
            <a:r>
              <a:rPr lang="ru-RU" dirty="0" err="1"/>
              <a:t>системи</a:t>
            </a:r>
            <a:r>
              <a:rPr lang="ru-RU" dirty="0"/>
              <a:t> для </a:t>
            </a:r>
            <a:r>
              <a:rPr lang="ru-RU" dirty="0" err="1"/>
              <a:t>виявлення</a:t>
            </a:r>
            <a:r>
              <a:rPr lang="ru-RU" dirty="0"/>
              <a:t> </a:t>
            </a:r>
            <a:r>
              <a:rPr lang="ru-RU" dirty="0" err="1"/>
              <a:t>плагіату</a:t>
            </a:r>
            <a:r>
              <a:rPr lang="ru-RU" dirty="0"/>
              <a:t>. </a:t>
            </a:r>
            <a:r>
              <a:rPr lang="ru-RU" dirty="0" err="1"/>
              <a:t>Тепер</a:t>
            </a:r>
            <a:r>
              <a:rPr lang="ru-RU" dirty="0"/>
              <a:t> </a:t>
            </a:r>
            <a:r>
              <a:rPr lang="ru-RU" dirty="0" err="1"/>
              <a:t>перейдемо</a:t>
            </a:r>
            <a:r>
              <a:rPr lang="ru-RU" dirty="0"/>
              <a:t> до </a:t>
            </a:r>
            <a:r>
              <a:rPr lang="ru-RU" dirty="0" err="1"/>
              <a:t>методології</a:t>
            </a:r>
            <a:r>
              <a:rPr lang="ru-RU" dirty="0"/>
              <a:t>.</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e16b2adad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Експериментальне дослідження побудоване як систематичне порівняння шести методів — двох лексичних і чотирьох </a:t>
            </a:r>
            <a:r>
              <a:rPr lang="uk-UA" dirty="0" err="1"/>
              <a:t>трансформерних</a:t>
            </a:r>
            <a:r>
              <a:rPr lang="uk-UA" dirty="0"/>
              <a:t> — на трьох тестових наборах даних (</a:t>
            </a:r>
            <a:r>
              <a:rPr lang="uk-UA" dirty="0" err="1"/>
              <a:t>укр</a:t>
            </a:r>
            <a:r>
              <a:rPr lang="uk-UA" dirty="0"/>
              <a:t>.,</a:t>
            </a:r>
            <a:r>
              <a:rPr lang="en-US" dirty="0"/>
              <a:t> QQP, PAWS-Wiki)</a:t>
            </a:r>
            <a:r>
              <a:rPr lang="uk-UA" dirty="0"/>
              <a:t>. </a:t>
            </a:r>
            <a:r>
              <a:rPr lang="uk-UA" dirty="0" err="1"/>
              <a:t>Трансформерні</a:t>
            </a:r>
            <a:r>
              <a:rPr lang="uk-UA" dirty="0"/>
              <a:t> методи розглядаються у двох режимах: без </a:t>
            </a:r>
            <a:r>
              <a:rPr lang="uk-UA" dirty="0" err="1"/>
              <a:t>донавчання</a:t>
            </a:r>
            <a:r>
              <a:rPr lang="uk-UA" dirty="0"/>
              <a:t>, тобто 0-</a:t>
            </a:r>
            <a:r>
              <a:rPr lang="en-US" dirty="0"/>
              <a:t>shot, </a:t>
            </a:r>
            <a:r>
              <a:rPr lang="uk-UA" dirty="0"/>
              <a:t>та </a:t>
            </a:r>
            <a:r>
              <a:rPr lang="en-US" dirty="0"/>
              <a:t>fine-tuned, </a:t>
            </a:r>
            <a:r>
              <a:rPr lang="uk-UA" dirty="0"/>
              <a:t>тобто </a:t>
            </a:r>
            <a:r>
              <a:rPr lang="uk-UA" dirty="0" err="1"/>
              <a:t>донавчені</a:t>
            </a:r>
            <a:r>
              <a:rPr lang="uk-UA" dirty="0"/>
              <a:t>. Це дозволяє виокремити внесок самого </a:t>
            </a:r>
            <a:r>
              <a:rPr lang="uk-UA" dirty="0" err="1"/>
              <a:t>донавчання</a:t>
            </a:r>
            <a:r>
              <a:rPr lang="uk-UA" dirty="0"/>
              <a:t> у якість моделі. Метриками є </a:t>
            </a:r>
            <a:r>
              <a:rPr lang="en-US" dirty="0"/>
              <a:t>Precision, Recall </a:t>
            </a:r>
            <a:r>
              <a:rPr lang="uk-UA" dirty="0"/>
              <a:t>та </a:t>
            </a:r>
            <a:r>
              <a:rPr lang="en-US" dirty="0"/>
              <a:t>F</a:t>
            </a:r>
            <a:r>
              <a:rPr lang="uk-UA" dirty="0"/>
              <a:t>1</a:t>
            </a:r>
            <a:r>
              <a:rPr lang="en-US" dirty="0"/>
              <a:t>-</a:t>
            </a:r>
            <a:r>
              <a:rPr lang="uk-UA" dirty="0"/>
              <a:t>міра, плюс медіанний час обробки пари речень. Поріг класифікації </a:t>
            </a:r>
            <a:r>
              <a:rPr lang="uk-UA" dirty="0" err="1"/>
              <a:t>калібрується</a:t>
            </a:r>
            <a:r>
              <a:rPr lang="uk-UA" dirty="0"/>
              <a:t> на </a:t>
            </a:r>
            <a:r>
              <a:rPr lang="en-US" dirty="0"/>
              <a:t>dev-</a:t>
            </a:r>
            <a:r>
              <a:rPr lang="uk-UA" dirty="0"/>
              <a:t>вибірці через максимізацію </a:t>
            </a:r>
            <a:r>
              <a:rPr lang="en-US" dirty="0"/>
              <a:t>F1. </a:t>
            </a:r>
            <a:r>
              <a:rPr lang="uk-UA" dirty="0"/>
              <a:t>Для встановлення статистичної значущості різниць між методами застосовано непараметричне </a:t>
            </a:r>
            <a:r>
              <a:rPr lang="en-US" dirty="0"/>
              <a:t>bootstrap-</a:t>
            </a:r>
            <a:r>
              <a:rPr lang="uk-UA" dirty="0"/>
              <a:t>тестування з двома тисячами ітерацій. Таке поєднання метрик і статистичної процедури забезпечує наукову строгість висновків.</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e16b2adad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e16b2adad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Технологічно дослідження виконане на стандартному </a:t>
            </a:r>
            <a:r>
              <a:rPr lang="en-US" dirty="0"/>
              <a:t>NLP-</a:t>
            </a:r>
            <a:r>
              <a:rPr lang="uk-UA" dirty="0"/>
              <a:t>стеку — </a:t>
            </a:r>
            <a:r>
              <a:rPr lang="en-US" dirty="0"/>
              <a:t>Python </a:t>
            </a:r>
            <a:r>
              <a:rPr lang="uk-UA" dirty="0"/>
              <a:t>з </a:t>
            </a:r>
            <a:r>
              <a:rPr lang="en-US" dirty="0" err="1"/>
              <a:t>PyTorch</a:t>
            </a:r>
            <a:r>
              <a:rPr lang="en-US" dirty="0"/>
              <a:t> </a:t>
            </a:r>
            <a:r>
              <a:rPr lang="uk-UA" dirty="0"/>
              <a:t>як </a:t>
            </a:r>
            <a:r>
              <a:rPr lang="en-US" dirty="0"/>
              <a:t>ML-</a:t>
            </a:r>
            <a:r>
              <a:rPr lang="uk-UA" dirty="0"/>
              <a:t>фреймворком, спеціалізованою бібліотекою </a:t>
            </a:r>
            <a:r>
              <a:rPr lang="en-US" dirty="0"/>
              <a:t>sentence-transformers </a:t>
            </a:r>
            <a:r>
              <a:rPr lang="uk-UA" dirty="0"/>
              <a:t>для роботи з </a:t>
            </a:r>
            <a:r>
              <a:rPr lang="uk-UA" dirty="0" err="1"/>
              <a:t>бі</a:t>
            </a:r>
            <a:r>
              <a:rPr lang="uk-UA" dirty="0"/>
              <a:t>- та крос-</a:t>
            </a:r>
            <a:r>
              <a:rPr lang="uk-UA" dirty="0" err="1"/>
              <a:t>енкодерами</a:t>
            </a:r>
            <a:r>
              <a:rPr lang="uk-UA" dirty="0"/>
              <a:t>, </a:t>
            </a:r>
            <a:r>
              <a:rPr lang="en-US" dirty="0"/>
              <a:t>FAISS </a:t>
            </a:r>
            <a:r>
              <a:rPr lang="uk-UA" dirty="0"/>
              <a:t>для векторного пошуку, </a:t>
            </a:r>
            <a:r>
              <a:rPr lang="en-US" dirty="0"/>
              <a:t>Stanza </a:t>
            </a:r>
            <a:r>
              <a:rPr lang="uk-UA" dirty="0"/>
              <a:t>для якісної сегментації українських текстів на речення. Як </a:t>
            </a:r>
            <a:r>
              <a:rPr lang="uk-UA" dirty="0" err="1"/>
              <a:t>бі-енкодер</a:t>
            </a:r>
            <a:r>
              <a:rPr lang="uk-UA" dirty="0"/>
              <a:t> використано модель </a:t>
            </a:r>
            <a:r>
              <a:rPr lang="en-US" dirty="0"/>
              <a:t>paraphrase-multilingual-MiniLM-L12-v2 </a:t>
            </a:r>
            <a:r>
              <a:rPr lang="uk-UA" dirty="0"/>
              <a:t>на 117 мільйонів параметрів. Як крос-</a:t>
            </a:r>
            <a:r>
              <a:rPr lang="uk-UA" dirty="0" err="1"/>
              <a:t>енкодер</a:t>
            </a:r>
            <a:r>
              <a:rPr lang="uk-UA" dirty="0"/>
              <a:t> без </a:t>
            </a:r>
            <a:r>
              <a:rPr lang="uk-UA" dirty="0" err="1"/>
              <a:t>донавчання</a:t>
            </a:r>
            <a:r>
              <a:rPr lang="uk-UA" dirty="0"/>
              <a:t> обрано </a:t>
            </a:r>
            <a:r>
              <a:rPr lang="en-US" dirty="0"/>
              <a:t>bge-reranker-v2-m3</a:t>
            </a:r>
            <a:r>
              <a:rPr lang="uk-UA" dirty="0"/>
              <a:t>, оскільки його </a:t>
            </a:r>
            <a:r>
              <a:rPr lang="uk-UA" dirty="0" err="1"/>
              <a:t>донавчання</a:t>
            </a:r>
            <a:r>
              <a:rPr lang="uk-UA" dirty="0"/>
              <a:t> вимагає значних ресурсів, то для </a:t>
            </a:r>
            <a:r>
              <a:rPr lang="uk-UA" dirty="0" err="1"/>
              <a:t>донавчено</a:t>
            </a:r>
            <a:r>
              <a:rPr lang="uk-UA" dirty="0"/>
              <a:t> крос-</a:t>
            </a:r>
            <a:r>
              <a:rPr lang="uk-UA" dirty="0" err="1"/>
              <a:t>енкодера</a:t>
            </a:r>
            <a:r>
              <a:rPr lang="uk-UA" dirty="0"/>
              <a:t> взято </a:t>
            </a:r>
            <a:r>
              <a:rPr lang="en-US" dirty="0"/>
              <a:t>MiniLM-L12-H384</a:t>
            </a:r>
            <a:r>
              <a:rPr lang="uk-UA" dirty="0"/>
              <a:t>. Усі експерименти виконано у </a:t>
            </a:r>
            <a:r>
              <a:rPr lang="en-US" dirty="0"/>
              <a:t>Google </a:t>
            </a:r>
            <a:r>
              <a:rPr lang="en-US" dirty="0" err="1"/>
              <a:t>Colab</a:t>
            </a:r>
            <a:r>
              <a:rPr lang="en-US" dirty="0"/>
              <a:t> Pro </a:t>
            </a:r>
            <a:r>
              <a:rPr lang="uk-UA" dirty="0"/>
              <a:t>з графічним процесором </a:t>
            </a:r>
            <a:r>
              <a:rPr lang="en-US" dirty="0"/>
              <a:t>NVIDIA T4.</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16b2ada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e16b2ada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На цьому слайді представлена діаграма послідовностей роботи системи, що використовує двоетапну архітектуру. </a:t>
            </a:r>
            <a:r>
              <a:rPr lang="ru-RU" dirty="0" err="1"/>
              <a:t>Користувач</a:t>
            </a:r>
            <a:r>
              <a:rPr lang="ru-RU" dirty="0"/>
              <a:t> </a:t>
            </a:r>
            <a:r>
              <a:rPr lang="ru-RU" dirty="0" err="1"/>
              <a:t>завантажує</a:t>
            </a:r>
            <a:r>
              <a:rPr lang="ru-RU" dirty="0"/>
              <a:t> документ через </a:t>
            </a:r>
            <a:r>
              <a:rPr lang="ru-RU" dirty="0" err="1"/>
              <a:t>інтерфейс</a:t>
            </a:r>
            <a:r>
              <a:rPr lang="ru-RU" dirty="0"/>
              <a:t>, </a:t>
            </a:r>
            <a:r>
              <a:rPr lang="ru-RU" dirty="0" err="1"/>
              <a:t>який</a:t>
            </a:r>
            <a:r>
              <a:rPr lang="ru-RU" dirty="0"/>
              <a:t> </a:t>
            </a:r>
            <a:r>
              <a:rPr lang="ru-RU" dirty="0" err="1"/>
              <a:t>передає</a:t>
            </a:r>
            <a:r>
              <a:rPr lang="ru-RU" dirty="0"/>
              <a:t> файл контролеру. Контролер </a:t>
            </a:r>
            <a:r>
              <a:rPr lang="ru-RU" dirty="0" err="1"/>
              <a:t>сегментує</a:t>
            </a:r>
            <a:r>
              <a:rPr lang="ru-RU" dirty="0"/>
              <a:t> текст на </a:t>
            </a:r>
            <a:r>
              <a:rPr lang="ru-RU" dirty="0" err="1"/>
              <a:t>речення</a:t>
            </a:r>
            <a:r>
              <a:rPr lang="ru-RU" dirty="0"/>
              <a:t> і </a:t>
            </a:r>
            <a:r>
              <a:rPr lang="ru-RU" dirty="0" err="1"/>
              <a:t>викликає</a:t>
            </a:r>
            <a:r>
              <a:rPr lang="ru-RU" dirty="0"/>
              <a:t> </a:t>
            </a:r>
            <a:r>
              <a:rPr lang="ru-RU" dirty="0" err="1"/>
              <a:t>бі-енкодер</a:t>
            </a:r>
            <a:r>
              <a:rPr lang="ru-RU" dirty="0"/>
              <a:t> для </a:t>
            </a:r>
            <a:r>
              <a:rPr lang="ru-RU" dirty="0" err="1"/>
              <a:t>отримання</a:t>
            </a:r>
            <a:r>
              <a:rPr lang="ru-RU" dirty="0"/>
              <a:t> </a:t>
            </a:r>
            <a:r>
              <a:rPr lang="ru-RU" dirty="0" err="1"/>
              <a:t>векторних</a:t>
            </a:r>
            <a:r>
              <a:rPr lang="ru-RU" dirty="0"/>
              <a:t> </a:t>
            </a:r>
            <a:r>
              <a:rPr lang="ru-RU" dirty="0" err="1"/>
              <a:t>представлень</a:t>
            </a:r>
            <a:r>
              <a:rPr lang="ru-RU" dirty="0"/>
              <a:t>. </a:t>
            </a:r>
            <a:r>
              <a:rPr lang="ru-RU" dirty="0" err="1"/>
              <a:t>Далі</a:t>
            </a:r>
            <a:r>
              <a:rPr lang="ru-RU" dirty="0"/>
              <a:t> для кожного </a:t>
            </a:r>
            <a:r>
              <a:rPr lang="ru-RU" dirty="0" err="1"/>
              <a:t>речення</a:t>
            </a:r>
            <a:r>
              <a:rPr lang="ru-RU" dirty="0"/>
              <a:t> </a:t>
            </a:r>
            <a:r>
              <a:rPr lang="ru-RU" dirty="0" err="1"/>
              <a:t>виконується</a:t>
            </a:r>
            <a:r>
              <a:rPr lang="ru-RU" dirty="0"/>
              <a:t> </a:t>
            </a:r>
            <a:r>
              <a:rPr lang="ru-RU" dirty="0" err="1"/>
              <a:t>пошук</a:t>
            </a:r>
            <a:r>
              <a:rPr lang="ru-RU" dirty="0"/>
              <a:t> k </a:t>
            </a:r>
            <a:r>
              <a:rPr lang="ru-RU" dirty="0" err="1"/>
              <a:t>найбільш</a:t>
            </a:r>
            <a:r>
              <a:rPr lang="ru-RU" dirty="0"/>
              <a:t> схожих </a:t>
            </a:r>
            <a:r>
              <a:rPr lang="ru-RU" dirty="0" err="1"/>
              <a:t>речень</a:t>
            </a:r>
            <a:r>
              <a:rPr lang="ru-RU" dirty="0"/>
              <a:t> у </a:t>
            </a:r>
            <a:r>
              <a:rPr lang="ru-RU" dirty="0" err="1"/>
              <a:t>векторній</a:t>
            </a:r>
            <a:r>
              <a:rPr lang="ru-RU" dirty="0"/>
              <a:t> </a:t>
            </a:r>
            <a:r>
              <a:rPr lang="ru-RU" dirty="0" err="1"/>
              <a:t>базі</a:t>
            </a:r>
            <a:r>
              <a:rPr lang="ru-RU" dirty="0"/>
              <a:t> (FAISS-</a:t>
            </a:r>
            <a:r>
              <a:rPr lang="ru-RU" dirty="0" err="1"/>
              <a:t>індексі</a:t>
            </a:r>
            <a:r>
              <a:rPr lang="ru-RU" dirty="0"/>
              <a:t> корпусу). </a:t>
            </a:r>
            <a:r>
              <a:rPr lang="ru-RU" dirty="0" err="1"/>
              <a:t>Відібрані</a:t>
            </a:r>
            <a:r>
              <a:rPr lang="ru-RU" dirty="0"/>
              <a:t> k </a:t>
            </a:r>
            <a:r>
              <a:rPr lang="ru-RU" dirty="0" err="1"/>
              <a:t>кандидатів</a:t>
            </a:r>
            <a:r>
              <a:rPr lang="ru-RU" dirty="0"/>
              <a:t> </a:t>
            </a:r>
            <a:r>
              <a:rPr lang="ru-RU" dirty="0" err="1"/>
              <a:t>подаються</a:t>
            </a:r>
            <a:r>
              <a:rPr lang="ru-RU" dirty="0"/>
              <a:t> до </a:t>
            </a:r>
            <a:r>
              <a:rPr lang="ru-RU" dirty="0" err="1"/>
              <a:t>крос-енкодера</a:t>
            </a:r>
            <a:r>
              <a:rPr lang="ru-RU" dirty="0"/>
              <a:t> на </a:t>
            </a:r>
            <a:r>
              <a:rPr lang="ru-RU" dirty="0" err="1"/>
              <a:t>детальне</a:t>
            </a:r>
            <a:r>
              <a:rPr lang="ru-RU" dirty="0"/>
              <a:t> </a:t>
            </a:r>
            <a:r>
              <a:rPr lang="ru-RU" dirty="0" err="1"/>
              <a:t>переранжування</a:t>
            </a:r>
            <a:r>
              <a:rPr lang="ru-RU" dirty="0"/>
              <a:t>. </a:t>
            </a:r>
            <a:r>
              <a:rPr lang="ru-RU" dirty="0" err="1"/>
              <a:t>Тобто</a:t>
            </a:r>
            <a:r>
              <a:rPr lang="ru-RU" dirty="0"/>
              <a:t>, </a:t>
            </a:r>
            <a:r>
              <a:rPr lang="ru-RU" dirty="0" err="1"/>
              <a:t>якщо</a:t>
            </a:r>
            <a:r>
              <a:rPr lang="ru-RU" dirty="0"/>
              <a:t> </a:t>
            </a:r>
            <a:r>
              <a:rPr lang="ru-RU" dirty="0" err="1"/>
              <a:t>навіть</a:t>
            </a:r>
            <a:r>
              <a:rPr lang="ru-RU" dirty="0"/>
              <a:t> початково </a:t>
            </a:r>
            <a:r>
              <a:rPr lang="ru-RU" dirty="0" err="1"/>
              <a:t>бі-енкодер</a:t>
            </a:r>
            <a:r>
              <a:rPr lang="ru-RU" dirty="0"/>
              <a:t> не </a:t>
            </a:r>
            <a:r>
              <a:rPr lang="ru-RU" dirty="0" err="1"/>
              <a:t>оцінив</a:t>
            </a:r>
            <a:r>
              <a:rPr lang="ru-RU" dirty="0"/>
              <a:t> </a:t>
            </a:r>
            <a:r>
              <a:rPr lang="ru-RU" dirty="0" err="1"/>
              <a:t>перефразоване</a:t>
            </a:r>
            <a:r>
              <a:rPr lang="ru-RU" dirty="0"/>
              <a:t> </a:t>
            </a:r>
            <a:r>
              <a:rPr lang="ru-RU" dirty="0" err="1"/>
              <a:t>речення</a:t>
            </a:r>
            <a:r>
              <a:rPr lang="ru-RU" dirty="0"/>
              <a:t> </a:t>
            </a:r>
            <a:r>
              <a:rPr lang="ru-RU" dirty="0" err="1"/>
              <a:t>найвище</a:t>
            </a:r>
            <a:r>
              <a:rPr lang="ru-RU" dirty="0"/>
              <a:t>, </a:t>
            </a:r>
            <a:r>
              <a:rPr lang="ru-RU" dirty="0" err="1"/>
              <a:t>але</a:t>
            </a:r>
            <a:r>
              <a:rPr lang="ru-RU" dirty="0"/>
              <a:t> </a:t>
            </a:r>
            <a:r>
              <a:rPr lang="ru-RU" dirty="0" err="1"/>
              <a:t>воно</a:t>
            </a:r>
            <a:r>
              <a:rPr lang="ru-RU" dirty="0"/>
              <a:t> </a:t>
            </a:r>
            <a:r>
              <a:rPr lang="ru-RU" dirty="0" err="1"/>
              <a:t>потрапило</a:t>
            </a:r>
            <a:r>
              <a:rPr lang="ru-RU" dirty="0"/>
              <a:t> у топ k, </a:t>
            </a:r>
            <a:r>
              <a:rPr lang="ru-RU" dirty="0" err="1"/>
              <a:t>точніша</a:t>
            </a:r>
            <a:r>
              <a:rPr lang="ru-RU" dirty="0"/>
              <a:t> </a:t>
            </a:r>
            <a:r>
              <a:rPr lang="ru-RU" dirty="0" err="1"/>
              <a:t>крос-енкодер</a:t>
            </a:r>
            <a:r>
              <a:rPr lang="ru-RU" dirty="0"/>
              <a:t> модель все </a:t>
            </a:r>
            <a:r>
              <a:rPr lang="ru-RU" dirty="0" err="1"/>
              <a:t>ще</a:t>
            </a:r>
            <a:r>
              <a:rPr lang="ru-RU" dirty="0"/>
              <a:t> </a:t>
            </a:r>
            <a:r>
              <a:rPr lang="ru-RU" dirty="0" err="1"/>
              <a:t>може</a:t>
            </a:r>
            <a:r>
              <a:rPr lang="ru-RU" dirty="0"/>
              <a:t> правильно </a:t>
            </a:r>
            <a:r>
              <a:rPr lang="ru-RU" dirty="0" err="1"/>
              <a:t>знайти</a:t>
            </a:r>
            <a:r>
              <a:rPr lang="ru-RU" dirty="0"/>
              <a:t> </a:t>
            </a:r>
            <a:r>
              <a:rPr lang="ru-RU" dirty="0" err="1"/>
              <a:t>це</a:t>
            </a:r>
            <a:r>
              <a:rPr lang="ru-RU" dirty="0"/>
              <a:t> </a:t>
            </a:r>
            <a:r>
              <a:rPr lang="ru-RU" dirty="0" err="1"/>
              <a:t>речення</a:t>
            </a:r>
            <a:r>
              <a:rPr lang="ru-RU" dirty="0"/>
              <a:t>. </a:t>
            </a:r>
            <a:r>
              <a:rPr lang="ru-RU" dirty="0" err="1"/>
              <a:t>Фінальні</a:t>
            </a:r>
            <a:r>
              <a:rPr lang="ru-RU" dirty="0"/>
              <a:t> </a:t>
            </a:r>
            <a:r>
              <a:rPr lang="ru-RU" dirty="0" err="1"/>
              <a:t>оцінки</a:t>
            </a:r>
            <a:r>
              <a:rPr lang="ru-RU" dirty="0"/>
              <a:t> </a:t>
            </a:r>
            <a:r>
              <a:rPr lang="ru-RU" dirty="0" err="1"/>
              <a:t>повертаються</a:t>
            </a:r>
            <a:r>
              <a:rPr lang="ru-RU" dirty="0"/>
              <a:t> контролеру для </a:t>
            </a:r>
            <a:r>
              <a:rPr lang="ru-RU" dirty="0" err="1"/>
              <a:t>генерації</a:t>
            </a:r>
            <a:r>
              <a:rPr lang="ru-RU" dirty="0"/>
              <a:t> </a:t>
            </a:r>
            <a:r>
              <a:rPr lang="ru-RU" dirty="0" err="1"/>
              <a:t>звіту</a:t>
            </a:r>
            <a:r>
              <a:rPr lang="ru-RU" dirty="0"/>
              <a:t>, </a:t>
            </a:r>
            <a:r>
              <a:rPr lang="ru-RU" dirty="0" err="1"/>
              <a:t>що</a:t>
            </a:r>
            <a:r>
              <a:rPr lang="ru-RU" dirty="0"/>
              <a:t> </a:t>
            </a:r>
            <a:r>
              <a:rPr lang="ru-RU" dirty="0" err="1"/>
              <a:t>відображається</a:t>
            </a:r>
            <a:r>
              <a:rPr lang="ru-RU" dirty="0"/>
              <a:t> </a:t>
            </a:r>
            <a:r>
              <a:rPr lang="ru-RU" dirty="0" err="1"/>
              <a:t>користувачу</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16b2ada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16b2ada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Окремою задачею стало формування власного набору даних, оскільки готового україномовного </a:t>
            </a:r>
            <a:r>
              <a:rPr lang="uk-UA" dirty="0" err="1"/>
              <a:t>бенчмарку</a:t>
            </a:r>
            <a:r>
              <a:rPr lang="uk-UA" dirty="0"/>
              <a:t> для парафразів немає. Набір на 20 тисяч пар сформовано з чотирьох джерел. Шість тисяч позитивних пар взято з </a:t>
            </a:r>
            <a:r>
              <a:rPr lang="en-US" dirty="0" err="1"/>
              <a:t>Spivavtor</a:t>
            </a:r>
            <a:r>
              <a:rPr lang="en-US" dirty="0"/>
              <a:t> — </a:t>
            </a:r>
            <a:r>
              <a:rPr lang="uk-UA" dirty="0"/>
              <a:t>це україномовний переклад </a:t>
            </a:r>
            <a:r>
              <a:rPr lang="en-US" dirty="0"/>
              <a:t>PAWS </a:t>
            </a:r>
            <a:r>
              <a:rPr lang="uk-UA" dirty="0"/>
              <a:t>з ручною верифікацією. Чотири тисячі негативних пар отримано шляхом машинного перекладу англомовного </a:t>
            </a:r>
            <a:r>
              <a:rPr lang="en-US" dirty="0"/>
              <a:t>PAWS </a:t>
            </a:r>
            <a:r>
              <a:rPr lang="uk-UA" dirty="0"/>
              <a:t>це важливі для навчання моделі складні приклади з високим лексичним перекриттям</a:t>
            </a:r>
            <a:r>
              <a:rPr lang="en-US" dirty="0"/>
              <a:t>, </a:t>
            </a:r>
            <a:r>
              <a:rPr lang="uk-UA" dirty="0"/>
              <a:t>але різним змістом. Вісім тисяч пар згенеровано великою </a:t>
            </a:r>
            <a:r>
              <a:rPr lang="uk-UA" dirty="0" err="1"/>
              <a:t>мовною</a:t>
            </a:r>
            <a:r>
              <a:rPr lang="uk-UA" dirty="0"/>
              <a:t> моделлю </a:t>
            </a:r>
            <a:r>
              <a:rPr lang="en-US" dirty="0"/>
              <a:t>Gemini </a:t>
            </a:r>
            <a:r>
              <a:rPr lang="uk-UA" dirty="0"/>
              <a:t>на основі речень з україномовної Вікіпедії. Ще дві тисячі — шумні негативи з тематично-близьких речень. На кожному етапі двадцять відсотків прикладів перевірялися вручну. Розбиття 80 на 10 на 10 — </a:t>
            </a:r>
            <a:r>
              <a:rPr lang="en-US" dirty="0"/>
              <a:t>train, dev, test.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16b2adad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Перейдемо до головних результатів. На україномовному тестовому наборі результати методів за </a:t>
            </a:r>
            <a:r>
              <a:rPr lang="en-US" dirty="0"/>
              <a:t>F-</a:t>
            </a:r>
            <a:r>
              <a:rPr lang="uk-UA" dirty="0"/>
              <a:t>мірою виглядає так: лексичні методи — близько 0,68, </a:t>
            </a:r>
            <a:r>
              <a:rPr lang="uk-UA" dirty="0" err="1"/>
              <a:t>бі-енкодер</a:t>
            </a:r>
            <a:r>
              <a:rPr lang="uk-UA" dirty="0"/>
              <a:t> 0-</a:t>
            </a:r>
            <a:r>
              <a:rPr lang="en-US" dirty="0"/>
              <a:t>shot — 0,7</a:t>
            </a:r>
            <a:r>
              <a:rPr lang="uk-UA" dirty="0"/>
              <a:t>0</a:t>
            </a:r>
            <a:r>
              <a:rPr lang="en-US" dirty="0"/>
              <a:t>, </a:t>
            </a:r>
            <a:r>
              <a:rPr lang="uk-UA" dirty="0" err="1"/>
              <a:t>бі-енкодер</a:t>
            </a:r>
            <a:r>
              <a:rPr lang="uk-UA" dirty="0"/>
              <a:t> </a:t>
            </a:r>
            <a:r>
              <a:rPr lang="uk-UA" dirty="0" err="1"/>
              <a:t>донавчений</a:t>
            </a:r>
            <a:r>
              <a:rPr lang="uk-UA" dirty="0"/>
              <a:t> — 0,79, крос-</a:t>
            </a:r>
            <a:r>
              <a:rPr lang="uk-UA" dirty="0" err="1"/>
              <a:t>енкодер</a:t>
            </a:r>
            <a:r>
              <a:rPr lang="uk-UA" dirty="0"/>
              <a:t> 0-</a:t>
            </a:r>
            <a:r>
              <a:rPr lang="en-US" dirty="0"/>
              <a:t>shot — 0,8</a:t>
            </a:r>
            <a:r>
              <a:rPr lang="uk-UA" dirty="0"/>
              <a:t>2</a:t>
            </a:r>
            <a:r>
              <a:rPr lang="en-US" dirty="0"/>
              <a:t>, </a:t>
            </a:r>
            <a:r>
              <a:rPr lang="uk-UA" dirty="0"/>
              <a:t>і найвищий результат у </a:t>
            </a:r>
            <a:r>
              <a:rPr lang="uk-UA" dirty="0" err="1"/>
              <a:t>донавченого</a:t>
            </a:r>
            <a:r>
              <a:rPr lang="uk-UA" dirty="0"/>
              <a:t> крос-</a:t>
            </a:r>
            <a:r>
              <a:rPr lang="uk-UA" dirty="0" err="1"/>
              <a:t>енкодера</a:t>
            </a:r>
            <a:r>
              <a:rPr lang="uk-UA" dirty="0"/>
              <a:t> — </a:t>
            </a:r>
            <a:r>
              <a:rPr lang="en-US" dirty="0"/>
              <a:t>F-</a:t>
            </a:r>
            <a:r>
              <a:rPr lang="uk-UA" dirty="0"/>
              <a:t>міра 0,95. На наборі </a:t>
            </a:r>
            <a:r>
              <a:rPr lang="en-US" dirty="0"/>
              <a:t>QQP </a:t>
            </a:r>
            <a:r>
              <a:rPr lang="uk-UA" dirty="0"/>
              <a:t>ситуація подібна, з невеликими варіаціями. Але найцікавіший отримано на наборі </a:t>
            </a:r>
            <a:r>
              <a:rPr lang="en-US" dirty="0"/>
              <a:t>PAWS. </a:t>
            </a:r>
            <a:r>
              <a:rPr lang="uk-UA" dirty="0"/>
              <a:t>Тут крос-</a:t>
            </a:r>
            <a:r>
              <a:rPr lang="uk-UA" dirty="0" err="1"/>
              <a:t>енкодер</a:t>
            </a:r>
            <a:r>
              <a:rPr lang="uk-UA" dirty="0"/>
              <a:t> без </a:t>
            </a:r>
            <a:r>
              <a:rPr lang="uk-UA" dirty="0" err="1"/>
              <a:t>донавчання</a:t>
            </a:r>
            <a:r>
              <a:rPr lang="uk-UA" dirty="0"/>
              <a:t> показує найвищий результат серед усіх – 0,819, коли </a:t>
            </a:r>
            <a:r>
              <a:rPr lang="uk-UA" dirty="0" err="1"/>
              <a:t>донавчений</a:t>
            </a:r>
            <a:r>
              <a:rPr lang="uk-UA" dirty="0"/>
              <a:t> крос-</a:t>
            </a:r>
            <a:r>
              <a:rPr lang="uk-UA" dirty="0" err="1"/>
              <a:t>енкодер</a:t>
            </a:r>
            <a:r>
              <a:rPr lang="uk-UA" dirty="0"/>
              <a:t> взагалі не покращив розуміння цих парафразів та має показник </a:t>
            </a:r>
            <a:r>
              <a:rPr lang="en-US" dirty="0"/>
              <a:t>F1 </a:t>
            </a:r>
            <a:r>
              <a:rPr lang="uk-UA" dirty="0"/>
              <a:t>на рівні </a:t>
            </a:r>
            <a:r>
              <a:rPr lang="uk-UA" dirty="0" err="1"/>
              <a:t>бі-енкодера</a:t>
            </a:r>
            <a:r>
              <a:rPr lang="uk-UA" dirty="0"/>
              <a:t> 0-</a:t>
            </a:r>
            <a:r>
              <a:rPr lang="en-US" dirty="0"/>
              <a:t>shot – 0,613</a:t>
            </a:r>
            <a:r>
              <a:rPr lang="uk-UA" dirty="0"/>
              <a:t> або лексичних </a:t>
            </a:r>
            <a:r>
              <a:rPr lang="uk-UA" dirty="0" err="1"/>
              <a:t>меотдів</a:t>
            </a:r>
            <a:r>
              <a:rPr lang="uk-UA" dirty="0"/>
              <a:t>. Цей результат потребує окремого пояснення.</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Bootstrap-</a:t>
            </a:r>
            <a:r>
              <a:rPr lang="uk-UA" dirty="0"/>
              <a:t>тестування підтвердило, що ця різниця в результатах є статистично значуща з </a:t>
            </a:r>
            <a:r>
              <a:rPr lang="en-US" dirty="0"/>
              <a:t>p-value </a:t>
            </a:r>
            <a:r>
              <a:rPr lang="uk-UA" dirty="0"/>
              <a:t>менше 0,001. Тобто це не випадковість. Подивимось детальніше на матрицю помилок </a:t>
            </a:r>
            <a:r>
              <a:rPr lang="uk-UA" dirty="0" err="1"/>
              <a:t>донавченого</a:t>
            </a:r>
            <a:r>
              <a:rPr lang="uk-UA" dirty="0"/>
              <a:t> крос-</a:t>
            </a:r>
            <a:r>
              <a:rPr lang="uk-UA" dirty="0" err="1"/>
              <a:t>енкодера</a:t>
            </a:r>
            <a:r>
              <a:rPr lang="uk-UA" dirty="0"/>
              <a:t> на </a:t>
            </a:r>
            <a:r>
              <a:rPr lang="en-US" dirty="0"/>
              <a:t>PAWS. </a:t>
            </a:r>
            <a:r>
              <a:rPr lang="uk-UA" dirty="0"/>
              <a:t>З 8 тисяч пар модель присвоїла 4 432 пари у клас "парафраз" помилково — це </a:t>
            </a:r>
            <a:r>
              <a:rPr lang="uk-UA" dirty="0" err="1"/>
              <a:t>хибнопозитивні</a:t>
            </a:r>
            <a:r>
              <a:rPr lang="uk-UA" dirty="0"/>
              <a:t> спрацьовування</a:t>
            </a:r>
            <a:r>
              <a:rPr lang="en-US" dirty="0"/>
              <a:t>. </a:t>
            </a:r>
            <a:r>
              <a:rPr lang="uk-UA" dirty="0"/>
              <a:t>А хибно негативні</a:t>
            </a:r>
            <a:r>
              <a:rPr lang="en-US" dirty="0"/>
              <a:t> </a:t>
            </a:r>
            <a:r>
              <a:rPr lang="uk-UA" dirty="0"/>
              <a:t>лише 11. Також помітна асиметрія з </a:t>
            </a:r>
            <a:r>
              <a:rPr lang="en-US" dirty="0"/>
              <a:t>precision </a:t>
            </a:r>
            <a:r>
              <a:rPr lang="uk-UA" dirty="0"/>
              <a:t>лише 0,44 при </a:t>
            </a:r>
            <a:r>
              <a:rPr lang="en-US" dirty="0"/>
              <a:t>recall 0,997. </a:t>
            </a:r>
            <a:r>
              <a:rPr lang="uk-UA" dirty="0" err="1"/>
              <a:t>Наймовірнішою</a:t>
            </a:r>
            <a:r>
              <a:rPr lang="uk-UA" dirty="0"/>
              <a:t> причиною цього є перенавчена через </a:t>
            </a:r>
            <a:r>
              <a:rPr lang="en-US" dirty="0" err="1"/>
              <a:t>BinaryCrossEntropyLoss</a:t>
            </a:r>
            <a:r>
              <a:rPr lang="uk-UA" dirty="0"/>
              <a:t> класифікаційна голова крос-</a:t>
            </a:r>
            <a:r>
              <a:rPr lang="uk-UA" dirty="0" err="1"/>
              <a:t>енкодера</a:t>
            </a:r>
            <a:r>
              <a:rPr lang="en-US" dirty="0"/>
              <a:t> </a:t>
            </a:r>
            <a:r>
              <a:rPr lang="uk-UA" dirty="0"/>
              <a:t>на даних без складних парафразів. Через, що модель навчилася фіксувати лише поверхневі лексичні ознаки.</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07128E1E-770B-2EA2-3A1D-9AF078C85F57}"/>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80BDD3D2-DE1A-9C44-9DC6-40D7A5CCA8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E7BB9D1F-143C-766A-26A4-7B1B9315A4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Час </a:t>
            </a:r>
            <a:r>
              <a:rPr lang="ru-RU" dirty="0" err="1"/>
              <a:t>порівняння</a:t>
            </a:r>
            <a:r>
              <a:rPr lang="ru-RU" dirty="0"/>
              <a:t> для </a:t>
            </a:r>
            <a:r>
              <a:rPr lang="ru-RU" dirty="0" err="1"/>
              <a:t>лексичних</a:t>
            </a:r>
            <a:r>
              <a:rPr lang="ru-RU" dirty="0"/>
              <a:t> </a:t>
            </a:r>
            <a:r>
              <a:rPr lang="ru-RU" dirty="0" err="1"/>
              <a:t>методів</a:t>
            </a:r>
            <a:r>
              <a:rPr lang="ru-RU" dirty="0"/>
              <a:t> (TF-IDF, n-</a:t>
            </a:r>
            <a:r>
              <a:rPr lang="ru-RU" dirty="0" err="1"/>
              <a:t>грам</a:t>
            </a:r>
            <a:r>
              <a:rPr lang="ru-RU" dirty="0"/>
              <a:t>) </a:t>
            </a:r>
            <a:r>
              <a:rPr lang="ru-RU" dirty="0" err="1"/>
              <a:t>передбачувано</a:t>
            </a:r>
            <a:r>
              <a:rPr lang="ru-RU" dirty="0"/>
              <a:t> </a:t>
            </a:r>
            <a:r>
              <a:rPr lang="ru-RU" dirty="0" err="1"/>
              <a:t>займає</a:t>
            </a:r>
            <a:r>
              <a:rPr lang="ru-RU" dirty="0"/>
              <a:t> </a:t>
            </a:r>
            <a:r>
              <a:rPr lang="ru-RU" dirty="0" err="1"/>
              <a:t>близько</a:t>
            </a:r>
            <a:r>
              <a:rPr lang="ru-RU" dirty="0"/>
              <a:t> 1 мс. Для </a:t>
            </a:r>
            <a:r>
              <a:rPr lang="ru-RU" dirty="0" err="1"/>
              <a:t>біенкодерів</a:t>
            </a:r>
            <a:r>
              <a:rPr lang="ru-RU" dirty="0"/>
              <a:t> час </a:t>
            </a:r>
            <a:r>
              <a:rPr lang="ru-RU" dirty="0" err="1"/>
              <a:t>складає</a:t>
            </a:r>
            <a:r>
              <a:rPr lang="ru-RU" dirty="0"/>
              <a:t> в межах 12 мс, для </a:t>
            </a:r>
            <a:r>
              <a:rPr lang="ru-RU" dirty="0" err="1"/>
              <a:t>кросенкодера</a:t>
            </a:r>
            <a:r>
              <a:rPr lang="ru-RU" dirty="0"/>
              <a:t> без </a:t>
            </a:r>
            <a:r>
              <a:rPr lang="ru-RU" dirty="0" err="1"/>
              <a:t>донавчання</a:t>
            </a:r>
            <a:r>
              <a:rPr lang="ru-RU" dirty="0"/>
              <a:t> в межах 20-28 мс. </a:t>
            </a:r>
            <a:r>
              <a:rPr lang="ru-RU" dirty="0" err="1"/>
              <a:t>Помітно</a:t>
            </a:r>
            <a:r>
              <a:rPr lang="ru-RU" dirty="0"/>
              <a:t>, </a:t>
            </a:r>
            <a:r>
              <a:rPr lang="ru-RU" dirty="0" err="1"/>
              <a:t>що</a:t>
            </a:r>
            <a:r>
              <a:rPr lang="ru-RU" dirty="0"/>
              <a:t> </a:t>
            </a:r>
            <a:r>
              <a:rPr lang="ru-RU" dirty="0" err="1"/>
              <a:t>медіанний</a:t>
            </a:r>
            <a:r>
              <a:rPr lang="ru-RU" dirty="0"/>
              <a:t> час </a:t>
            </a:r>
            <a:r>
              <a:rPr lang="ru-RU" dirty="0" err="1"/>
              <a:t>обробки</a:t>
            </a:r>
            <a:r>
              <a:rPr lang="ru-RU" dirty="0"/>
              <a:t> пари для </a:t>
            </a:r>
            <a:r>
              <a:rPr lang="ru-RU" dirty="0" err="1"/>
              <a:t>донавченого</a:t>
            </a:r>
            <a:r>
              <a:rPr lang="ru-RU" dirty="0"/>
              <a:t> </a:t>
            </a:r>
            <a:r>
              <a:rPr lang="ru-RU" dirty="0" err="1"/>
              <a:t>крос-енкодера</a:t>
            </a:r>
            <a:r>
              <a:rPr lang="ru-RU" dirty="0"/>
              <a:t> (10 мс) </a:t>
            </a:r>
            <a:r>
              <a:rPr lang="ru-RU" dirty="0" err="1"/>
              <a:t>виявився</a:t>
            </a:r>
            <a:r>
              <a:rPr lang="ru-RU" dirty="0"/>
              <a:t> </a:t>
            </a:r>
            <a:r>
              <a:rPr lang="ru-RU" dirty="0" err="1"/>
              <a:t>близьким</a:t>
            </a:r>
            <a:r>
              <a:rPr lang="ru-RU" dirty="0"/>
              <a:t> до </a:t>
            </a:r>
            <a:r>
              <a:rPr lang="ru-RU" dirty="0" err="1"/>
              <a:t>бі-енкодера</a:t>
            </a:r>
            <a:r>
              <a:rPr lang="ru-RU" dirty="0"/>
              <a:t> (11-16 мс) і </a:t>
            </a:r>
            <a:r>
              <a:rPr lang="ru-RU" dirty="0" err="1"/>
              <a:t>навіть</a:t>
            </a:r>
            <a:r>
              <a:rPr lang="ru-RU" dirty="0"/>
              <a:t> </a:t>
            </a:r>
            <a:r>
              <a:rPr lang="ru-RU" dirty="0" err="1"/>
              <a:t>нижчим</a:t>
            </a:r>
            <a:r>
              <a:rPr lang="ru-RU" dirty="0"/>
              <a:t>. </a:t>
            </a:r>
            <a:r>
              <a:rPr lang="ru-RU" dirty="0" err="1"/>
              <a:t>Це</a:t>
            </a:r>
            <a:r>
              <a:rPr lang="ru-RU" dirty="0"/>
              <a:t> </a:t>
            </a:r>
            <a:r>
              <a:rPr lang="ru-RU" dirty="0" err="1"/>
              <a:t>можна</a:t>
            </a:r>
            <a:r>
              <a:rPr lang="ru-RU" dirty="0"/>
              <a:t> </a:t>
            </a:r>
            <a:r>
              <a:rPr lang="ru-RU" dirty="0" err="1"/>
              <a:t>пояснити</a:t>
            </a:r>
            <a:r>
              <a:rPr lang="ru-RU" dirty="0"/>
              <a:t> </a:t>
            </a:r>
            <a:r>
              <a:rPr lang="ru-RU" dirty="0" err="1"/>
              <a:t>трьома</a:t>
            </a:r>
            <a:r>
              <a:rPr lang="ru-RU" dirty="0"/>
              <a:t> факторами. </a:t>
            </a:r>
            <a:r>
              <a:rPr lang="ru-RU" dirty="0" err="1"/>
              <a:t>По-перше</a:t>
            </a:r>
            <a:r>
              <a:rPr lang="ru-RU" dirty="0"/>
              <a:t>, при попарному </a:t>
            </a:r>
            <a:r>
              <a:rPr lang="ru-RU" dirty="0" err="1"/>
              <a:t>обчисленні</a:t>
            </a:r>
            <a:r>
              <a:rPr lang="ru-RU" dirty="0"/>
              <a:t> </a:t>
            </a:r>
            <a:r>
              <a:rPr lang="ru-RU" dirty="0" err="1"/>
              <a:t>бі-енкодер</a:t>
            </a:r>
            <a:r>
              <a:rPr lang="ru-RU" dirty="0"/>
              <a:t> </a:t>
            </a:r>
            <a:r>
              <a:rPr lang="ru-RU" dirty="0" err="1"/>
              <a:t>вимагає</a:t>
            </a:r>
            <a:r>
              <a:rPr lang="ru-RU" dirty="0"/>
              <a:t> </a:t>
            </a:r>
            <a:r>
              <a:rPr lang="ru-RU" dirty="0" err="1"/>
              <a:t>окремих</a:t>
            </a:r>
            <a:r>
              <a:rPr lang="ru-RU" dirty="0"/>
              <a:t> </a:t>
            </a:r>
            <a:r>
              <a:rPr lang="ru-RU" dirty="0" err="1"/>
              <a:t>проходів</a:t>
            </a:r>
            <a:r>
              <a:rPr lang="ru-RU" dirty="0"/>
              <a:t> для кожного </a:t>
            </a:r>
            <a:r>
              <a:rPr lang="ru-RU" dirty="0" err="1"/>
              <a:t>речення</a:t>
            </a:r>
            <a:r>
              <a:rPr lang="ru-RU" dirty="0"/>
              <a:t>. </a:t>
            </a:r>
            <a:r>
              <a:rPr lang="ru-RU" dirty="0" err="1"/>
              <a:t>По-друге</a:t>
            </a:r>
            <a:r>
              <a:rPr lang="ru-RU" dirty="0"/>
              <a:t>, для коротких </a:t>
            </a:r>
            <a:r>
              <a:rPr lang="ru-RU" dirty="0" err="1"/>
              <a:t>речень</a:t>
            </a:r>
            <a:r>
              <a:rPr lang="ru-RU" dirty="0"/>
              <a:t> </a:t>
            </a:r>
            <a:r>
              <a:rPr lang="ru-RU" dirty="0" err="1"/>
              <a:t>квадратична</a:t>
            </a:r>
            <a:r>
              <a:rPr lang="ru-RU" dirty="0"/>
              <a:t> </a:t>
            </a:r>
            <a:r>
              <a:rPr lang="ru-RU" dirty="0" err="1"/>
              <a:t>обчислювальна</a:t>
            </a:r>
            <a:r>
              <a:rPr lang="ru-RU" dirty="0"/>
              <a:t> </a:t>
            </a:r>
            <a:r>
              <a:rPr lang="ru-RU" dirty="0" err="1"/>
              <a:t>складність</a:t>
            </a:r>
            <a:r>
              <a:rPr lang="ru-RU" dirty="0"/>
              <a:t> </a:t>
            </a:r>
            <a:r>
              <a:rPr lang="ru-RU" dirty="0" err="1"/>
              <a:t>крос-енкодерів</a:t>
            </a:r>
            <a:r>
              <a:rPr lang="ru-RU" dirty="0"/>
              <a:t> часто не є </a:t>
            </a:r>
            <a:r>
              <a:rPr lang="ru-RU" dirty="0" err="1"/>
              <a:t>помітною</a:t>
            </a:r>
            <a:r>
              <a:rPr lang="ru-RU" dirty="0"/>
              <a:t>, особливо при </a:t>
            </a:r>
            <a:r>
              <a:rPr lang="ru-RU" dirty="0" err="1"/>
              <a:t>використанні</a:t>
            </a:r>
            <a:r>
              <a:rPr lang="ru-RU" dirty="0"/>
              <a:t> легких моделей, таких як MiniLML12. </a:t>
            </a:r>
            <a:r>
              <a:rPr lang="ru-RU" dirty="0" err="1"/>
              <a:t>По-третє</a:t>
            </a:r>
            <a:r>
              <a:rPr lang="ru-RU" dirty="0"/>
              <a:t>, </a:t>
            </a:r>
            <a:r>
              <a:rPr lang="ru-RU" dirty="0" err="1"/>
              <a:t>бі-енкодер</a:t>
            </a:r>
            <a:r>
              <a:rPr lang="ru-RU" dirty="0"/>
              <a:t> </a:t>
            </a:r>
            <a:r>
              <a:rPr lang="ru-RU" dirty="0" err="1"/>
              <a:t>додатково</a:t>
            </a:r>
            <a:r>
              <a:rPr lang="ru-RU" dirty="0"/>
              <a:t> </a:t>
            </a:r>
            <a:r>
              <a:rPr lang="ru-RU" dirty="0" err="1"/>
              <a:t>виконує</a:t>
            </a:r>
            <a:r>
              <a:rPr lang="ru-RU" dirty="0"/>
              <a:t> L2-нормалізацію </a:t>
            </a:r>
            <a:r>
              <a:rPr lang="ru-RU" dirty="0" err="1"/>
              <a:t>векторних</a:t>
            </a:r>
            <a:r>
              <a:rPr lang="ru-RU" dirty="0"/>
              <a:t> </a:t>
            </a:r>
            <a:r>
              <a:rPr lang="ru-RU" dirty="0" err="1"/>
              <a:t>представлень</a:t>
            </a:r>
            <a:r>
              <a:rPr lang="ru-RU" dirty="0"/>
              <a:t> та </a:t>
            </a:r>
            <a:r>
              <a:rPr lang="ru-RU" dirty="0" err="1"/>
              <a:t>обчислення</a:t>
            </a:r>
            <a:r>
              <a:rPr lang="ru-RU" dirty="0"/>
              <a:t> </a:t>
            </a:r>
            <a:r>
              <a:rPr lang="ru-RU" dirty="0" err="1"/>
              <a:t>косинусної</a:t>
            </a:r>
            <a:r>
              <a:rPr lang="ru-RU" dirty="0"/>
              <a:t> </a:t>
            </a:r>
            <a:r>
              <a:rPr lang="ru-RU" dirty="0" err="1"/>
              <a:t>подібності</a:t>
            </a:r>
            <a:r>
              <a:rPr lang="ru-RU" dirty="0"/>
              <a:t>, </a:t>
            </a:r>
            <a:r>
              <a:rPr lang="ru-RU" dirty="0" err="1"/>
              <a:t>що</a:t>
            </a:r>
            <a:r>
              <a:rPr lang="ru-RU" dirty="0"/>
              <a:t> </a:t>
            </a:r>
            <a:r>
              <a:rPr lang="ru-RU" dirty="0" err="1"/>
              <a:t>додає</a:t>
            </a:r>
            <a:r>
              <a:rPr lang="ru-RU" dirty="0"/>
              <a:t> близько1- 2 мс на пару. На корпусах з </a:t>
            </a:r>
            <a:r>
              <a:rPr lang="ru-RU" dirty="0" err="1"/>
              <a:t>довшими</a:t>
            </a:r>
            <a:r>
              <a:rPr lang="ru-RU" dirty="0"/>
              <a:t> </a:t>
            </a:r>
            <a:r>
              <a:rPr lang="ru-RU" dirty="0" err="1"/>
              <a:t>реченнями</a:t>
            </a:r>
            <a:r>
              <a:rPr lang="ru-RU" dirty="0"/>
              <a:t> </a:t>
            </a:r>
            <a:r>
              <a:rPr lang="ru-RU" dirty="0" err="1"/>
              <a:t>очікувана</a:t>
            </a:r>
            <a:r>
              <a:rPr lang="ru-RU" dirty="0"/>
              <a:t> </a:t>
            </a:r>
            <a:r>
              <a:rPr lang="ru-RU" dirty="0" err="1"/>
              <a:t>перевага</a:t>
            </a:r>
            <a:r>
              <a:rPr lang="ru-RU" dirty="0"/>
              <a:t> в </a:t>
            </a:r>
            <a:r>
              <a:rPr lang="ru-RU" dirty="0" err="1"/>
              <a:t>часі</a:t>
            </a:r>
            <a:r>
              <a:rPr lang="ru-RU" dirty="0"/>
              <a:t> переходить до </a:t>
            </a:r>
            <a:r>
              <a:rPr lang="ru-RU" dirty="0" err="1"/>
              <a:t>бі-енкодер</a:t>
            </a:r>
            <a:r>
              <a:rPr lang="ru-RU" dirty="0"/>
              <a:t>, </a:t>
            </a:r>
            <a:r>
              <a:rPr lang="ru-RU" dirty="0" err="1"/>
              <a:t>але</a:t>
            </a:r>
            <a:r>
              <a:rPr lang="ru-RU" dirty="0"/>
              <a:t> для </a:t>
            </a:r>
            <a:r>
              <a:rPr lang="ru-RU" dirty="0" err="1"/>
              <a:t>типових</a:t>
            </a:r>
            <a:r>
              <a:rPr lang="ru-RU" dirty="0"/>
              <a:t> задач </a:t>
            </a:r>
            <a:r>
              <a:rPr lang="ru-RU" dirty="0" err="1"/>
              <a:t>розпізнавання</a:t>
            </a:r>
            <a:r>
              <a:rPr lang="ru-RU" dirty="0"/>
              <a:t> коротких </a:t>
            </a:r>
            <a:r>
              <a:rPr lang="ru-RU" dirty="0" err="1"/>
              <a:t>парафразів</a:t>
            </a:r>
            <a:r>
              <a:rPr lang="ru-RU" dirty="0"/>
              <a:t> </a:t>
            </a:r>
            <a:r>
              <a:rPr lang="ru-RU" dirty="0" err="1"/>
              <a:t>ця</a:t>
            </a:r>
            <a:r>
              <a:rPr lang="ru-RU" dirty="0"/>
              <a:t> </a:t>
            </a:r>
            <a:r>
              <a:rPr lang="ru-RU" dirty="0" err="1"/>
              <a:t>різниця</a:t>
            </a:r>
            <a:r>
              <a:rPr lang="ru-RU" dirty="0"/>
              <a:t> часто не є </a:t>
            </a:r>
            <a:r>
              <a:rPr lang="ru-RU" dirty="0" err="1"/>
              <a:t>суттєвою</a:t>
            </a:r>
            <a:r>
              <a:rPr lang="ru-RU" dirty="0"/>
              <a:t>.</a:t>
            </a:r>
            <a:endParaRPr dirty="0"/>
          </a:p>
        </p:txBody>
      </p:sp>
    </p:spTree>
    <p:extLst>
      <p:ext uri="{BB962C8B-B14F-4D97-AF65-F5344CB8AC3E}">
        <p14:creationId xmlns:p14="http://schemas.microsoft.com/office/powerpoint/2010/main" val="415687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36490CCF-2A14-2816-CAFE-9550C3BA069A}"/>
            </a:ext>
          </a:extLst>
        </p:cNvPr>
        <p:cNvGrpSpPr/>
        <p:nvPr/>
      </p:nvGrpSpPr>
      <p:grpSpPr>
        <a:xfrm>
          <a:off x="0" y="0"/>
          <a:ext cx="0" cy="0"/>
          <a:chOff x="0" y="0"/>
          <a:chExt cx="0" cy="0"/>
        </a:xfrm>
      </p:grpSpPr>
      <p:sp>
        <p:nvSpPr>
          <p:cNvPr id="131" name="Google Shape;131;g2e16b2adad1_0_45:notes">
            <a:extLst>
              <a:ext uri="{FF2B5EF4-FFF2-40B4-BE49-F238E27FC236}">
                <a16:creationId xmlns:a16="http://schemas.microsoft.com/office/drawing/2014/main" id="{05B6C04E-AEA4-B870-6021-372F143907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e16b2adad1_0_45:notes">
            <a:extLst>
              <a:ext uri="{FF2B5EF4-FFF2-40B4-BE49-F238E27FC236}">
                <a16:creationId xmlns:a16="http://schemas.microsoft.com/office/drawing/2014/main" id="{6AD33B1E-5078-AB67-91EB-D538070B06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Аналіз експериментів свідчить, що на першому етапі доцільно використовувати </a:t>
            </a:r>
            <a:r>
              <a:rPr lang="uk-UA" dirty="0" err="1"/>
              <a:t>донавчену</a:t>
            </a:r>
            <a:r>
              <a:rPr lang="uk-UA" dirty="0"/>
              <a:t> модель </a:t>
            </a:r>
            <a:r>
              <a:rPr lang="uk-UA" dirty="0" err="1"/>
              <a:t>біенкодера</a:t>
            </a:r>
            <a:r>
              <a:rPr lang="uk-UA" dirty="0"/>
              <a:t> </a:t>
            </a:r>
            <a:r>
              <a:rPr lang="en-US" dirty="0"/>
              <a:t>paraphrase-multilingual-MiniLM-L12-v2. </a:t>
            </a:r>
            <a:r>
              <a:rPr lang="uk-UA" dirty="0"/>
              <a:t>Такий підхід має досить високу точність при часі порівняння близько 12 мс на пару. На роль </a:t>
            </a:r>
            <a:r>
              <a:rPr lang="uk-UA" dirty="0" err="1"/>
              <a:t>переранжувальника</a:t>
            </a:r>
            <a:r>
              <a:rPr lang="uk-UA" dirty="0"/>
              <a:t> обрано </a:t>
            </a:r>
            <a:r>
              <a:rPr lang="en-US" dirty="0"/>
              <a:t>bge-reranker-v2-m3, </a:t>
            </a:r>
            <a:r>
              <a:rPr lang="uk-UA" dirty="0"/>
              <a:t>оскільки попри більший час порівняння (близько 25 мс), модель навіть без </a:t>
            </a:r>
            <a:r>
              <a:rPr lang="uk-UA" dirty="0" err="1"/>
              <a:t>донавчання</a:t>
            </a:r>
            <a:r>
              <a:rPr lang="uk-UA" dirty="0"/>
              <a:t> видає високі показники на всіх наборах тестових даних, у тому числі на найскладнішому </a:t>
            </a:r>
            <a:r>
              <a:rPr lang="en-US" dirty="0"/>
              <a:t>PAWS. </a:t>
            </a:r>
            <a:r>
              <a:rPr lang="uk-UA" dirty="0"/>
              <a:t> Якщо </a:t>
            </a:r>
            <a:r>
              <a:rPr lang="ru-RU" dirty="0" err="1"/>
              <a:t>розрахувати</a:t>
            </a:r>
            <a:r>
              <a:rPr lang="ru-RU" dirty="0"/>
              <a:t> </a:t>
            </a:r>
            <a:r>
              <a:rPr lang="ru-RU" dirty="0" err="1"/>
              <a:t>приблизний</a:t>
            </a:r>
            <a:r>
              <a:rPr lang="ru-RU" dirty="0"/>
              <a:t> час </a:t>
            </a:r>
            <a:r>
              <a:rPr lang="ru-RU" dirty="0" err="1"/>
              <a:t>порівняння</a:t>
            </a:r>
            <a:r>
              <a:rPr lang="ru-RU" dirty="0"/>
              <a:t> для одного </a:t>
            </a:r>
            <a:r>
              <a:rPr lang="ru-RU" dirty="0" err="1"/>
              <a:t>речення</a:t>
            </a:r>
            <a:r>
              <a:rPr lang="ru-RU" dirty="0"/>
              <a:t> </a:t>
            </a:r>
            <a:r>
              <a:rPr lang="ru-RU" dirty="0" err="1"/>
              <a:t>із</a:t>
            </a:r>
            <a:r>
              <a:rPr lang="ru-RU" dirty="0"/>
              <a:t> базою з 10 000 </a:t>
            </a:r>
            <a:r>
              <a:rPr lang="ru-RU" dirty="0" err="1"/>
              <a:t>речень</a:t>
            </a:r>
            <a:r>
              <a:rPr lang="ru-RU" dirty="0"/>
              <a:t>, взявши </a:t>
            </a:r>
            <a:r>
              <a:rPr lang="ru-RU" dirty="0" err="1"/>
              <a:t>найгірші</a:t>
            </a:r>
            <a:r>
              <a:rPr lang="ru-RU" dirty="0"/>
              <a:t> </a:t>
            </a:r>
            <a:r>
              <a:rPr lang="ru-RU" dirty="0" err="1"/>
              <a:t>показники</a:t>
            </a:r>
            <a:r>
              <a:rPr lang="ru-RU" dirty="0"/>
              <a:t> часу, то </a:t>
            </a:r>
            <a:r>
              <a:rPr lang="ru-RU" dirty="0" err="1"/>
              <a:t>маємо</a:t>
            </a:r>
            <a:r>
              <a:rPr lang="ru-RU" dirty="0"/>
              <a:t>, </a:t>
            </a:r>
            <a:r>
              <a:rPr lang="ru-RU" dirty="0" err="1"/>
              <a:t>що</a:t>
            </a:r>
            <a:r>
              <a:rPr lang="ru-RU" dirty="0"/>
              <a:t> </a:t>
            </a:r>
            <a:r>
              <a:rPr lang="ru-RU" dirty="0" err="1"/>
              <a:t>комбінований</a:t>
            </a:r>
            <a:r>
              <a:rPr lang="ru-RU" dirty="0"/>
              <a:t> </a:t>
            </a:r>
            <a:r>
              <a:rPr lang="ru-RU" dirty="0" err="1"/>
              <a:t>підхід</a:t>
            </a:r>
            <a:r>
              <a:rPr lang="ru-RU" dirty="0"/>
              <a:t> </a:t>
            </a:r>
            <a:r>
              <a:rPr lang="ru-RU" dirty="0" err="1"/>
              <a:t>додає</a:t>
            </a:r>
            <a:r>
              <a:rPr lang="ru-RU" dirty="0"/>
              <a:t> </a:t>
            </a:r>
            <a:r>
              <a:rPr lang="ru-RU" dirty="0" err="1"/>
              <a:t>лише</a:t>
            </a:r>
            <a:r>
              <a:rPr lang="ru-RU" dirty="0"/>
              <a:t> </a:t>
            </a:r>
            <a:r>
              <a:rPr lang="ru-RU" dirty="0" err="1"/>
              <a:t>близько</a:t>
            </a:r>
            <a:r>
              <a:rPr lang="ru-RU" dirty="0"/>
              <a:t> 2% часу до </a:t>
            </a:r>
            <a:r>
              <a:rPr lang="ru-RU" dirty="0" err="1"/>
              <a:t>самостійного</a:t>
            </a:r>
            <a:r>
              <a:rPr lang="ru-RU" dirty="0"/>
              <a:t> </a:t>
            </a:r>
            <a:r>
              <a:rPr lang="ru-RU" dirty="0" err="1"/>
              <a:t>бі-енкодера</a:t>
            </a:r>
            <a:r>
              <a:rPr lang="ru-RU" dirty="0"/>
              <a:t>, </a:t>
            </a:r>
            <a:r>
              <a:rPr lang="ru-RU" dirty="0" err="1"/>
              <a:t>забезпечуючи</a:t>
            </a:r>
            <a:r>
              <a:rPr lang="ru-RU" dirty="0"/>
              <a:t> при </a:t>
            </a:r>
            <a:r>
              <a:rPr lang="ru-RU" dirty="0" err="1"/>
              <a:t>цьому</a:t>
            </a:r>
            <a:r>
              <a:rPr lang="ru-RU" dirty="0"/>
              <a:t> </a:t>
            </a:r>
            <a:r>
              <a:rPr lang="ru-RU" dirty="0" err="1"/>
              <a:t>вищу</a:t>
            </a:r>
            <a:r>
              <a:rPr lang="ru-RU" dirty="0"/>
              <a:t> </a:t>
            </a:r>
            <a:r>
              <a:rPr lang="ru-RU" dirty="0" err="1"/>
              <a:t>точність</a:t>
            </a:r>
            <a:r>
              <a:rPr lang="ru-RU" dirty="0"/>
              <a:t>.</a:t>
            </a:r>
            <a:endParaRPr dirty="0"/>
          </a:p>
        </p:txBody>
      </p:sp>
    </p:spTree>
    <p:extLst>
      <p:ext uri="{BB962C8B-B14F-4D97-AF65-F5344CB8AC3E}">
        <p14:creationId xmlns:p14="http://schemas.microsoft.com/office/powerpoint/2010/main" val="3173502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e16b2adad1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e16b2adad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uk-UA" dirty="0"/>
              <a:t>Основні результати </a:t>
            </a:r>
            <a:r>
              <a:rPr lang="uk-UA" dirty="0" err="1"/>
              <a:t>результати</a:t>
            </a:r>
            <a:r>
              <a:rPr lang="uk-UA" dirty="0"/>
              <a:t> дослідження були </a:t>
            </a:r>
            <a:r>
              <a:rPr lang="uk-UA" dirty="0" err="1"/>
              <a:t>офомленні</a:t>
            </a:r>
            <a:r>
              <a:rPr lang="uk-UA" dirty="0"/>
              <a:t> у вигляді статті та подані до журналу Біоніка інтелекту.</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uk-UA" dirty="0"/>
              <a:t>Отже, підсумками роботи є </a:t>
            </a:r>
            <a:r>
              <a:rPr lang="uk-UA" dirty="0" err="1"/>
              <a:t>сформованмй</a:t>
            </a:r>
            <a:r>
              <a:rPr lang="uk-UA" dirty="0"/>
              <a:t> україномовний набір даних на 20 тисяч пар; експериментально встановлено результати шести методів зі статистичним підтвердженням; детально досліджено поведінку моделей (</a:t>
            </a:r>
            <a:r>
              <a:rPr lang="uk-UA" dirty="0" err="1"/>
              <a:t>бі</a:t>
            </a:r>
            <a:r>
              <a:rPr lang="uk-UA" dirty="0"/>
              <a:t>- та крос-</a:t>
            </a:r>
            <a:r>
              <a:rPr lang="uk-UA" dirty="0" err="1"/>
              <a:t>енкодерів</a:t>
            </a:r>
            <a:r>
              <a:rPr lang="uk-UA" dirty="0"/>
              <a:t>) при </a:t>
            </a:r>
            <a:r>
              <a:rPr lang="uk-UA" dirty="0" err="1"/>
              <a:t>донавчанні</a:t>
            </a:r>
            <a:r>
              <a:rPr lang="uk-UA" dirty="0"/>
              <a:t> на об’єднаному наборі даних, </a:t>
            </a:r>
            <a:r>
              <a:rPr lang="ru-RU" dirty="0" err="1"/>
              <a:t>розроблено</a:t>
            </a:r>
            <a:r>
              <a:rPr lang="ru-RU" dirty="0"/>
              <a:t> прототип </a:t>
            </a:r>
            <a:r>
              <a:rPr lang="ru-RU" dirty="0" err="1"/>
              <a:t>системи</a:t>
            </a:r>
            <a:r>
              <a:rPr lang="ru-RU" dirty="0"/>
              <a:t> для </a:t>
            </a:r>
            <a:r>
              <a:rPr lang="ru-RU" dirty="0" err="1"/>
              <a:t>виявлення</a:t>
            </a:r>
            <a:r>
              <a:rPr lang="ru-RU" dirty="0"/>
              <a:t> </a:t>
            </a:r>
            <a:r>
              <a:rPr lang="ru-RU" dirty="0" err="1"/>
              <a:t>плагіату</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LID4096"/>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LID4096"/>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uk-UA"/>
              <a:t>Клацніть, щоб відредагувати стилі зразків тексту</a:t>
            </a: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uk-UA"/>
              <a:t>Клацніть, щоб редагувати стиль зразка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uk-UA"/>
              <a:t>Клацніть, щоб редагувати стиль зразка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uk-UA"/>
              <a:t>Клацніть, щоб редагувати стиль зразка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uk-UA"/>
              <a:t>Клацніть, щоб відредагувати стилі зразків тексту</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uk-UA"/>
              <a:t>Клацніть, щоб відредагувати стилі зразків тексту</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uk-UA"/>
              <a:t>Клацніть, щоб відредагувати стилі зразків тексту</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Пустий слайд">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05450" y="821299"/>
            <a:ext cx="3867020" cy="2186944"/>
          </a:xfrm>
          <a:prstGeom prst="rect">
            <a:avLst/>
          </a:prstGeom>
        </p:spPr>
        <p:txBody>
          <a:bodyPr spcFirstLastPara="1" wrap="square" lIns="91425" tIns="91425" rIns="91425" bIns="91425" anchor="b" anchorCtr="0">
            <a:noAutofit/>
          </a:bodyPr>
          <a:lstStyle/>
          <a:p>
            <a:r>
              <a:rPr lang="ru-RU" sz="2800" dirty="0" err="1"/>
              <a:t>Дослідження</a:t>
            </a:r>
            <a:r>
              <a:rPr lang="ru-RU" sz="2800" dirty="0"/>
              <a:t> </a:t>
            </a:r>
            <a:r>
              <a:rPr lang="ru-RU" sz="2800" dirty="0" err="1"/>
              <a:t>методів</a:t>
            </a:r>
            <a:r>
              <a:rPr lang="ru-RU" sz="2800" dirty="0"/>
              <a:t> </a:t>
            </a:r>
            <a:r>
              <a:rPr lang="ru-RU" sz="2800" dirty="0" err="1"/>
              <a:t>виявлення</a:t>
            </a:r>
            <a:r>
              <a:rPr lang="ru-RU" sz="2800" dirty="0"/>
              <a:t> </a:t>
            </a:r>
            <a:r>
              <a:rPr lang="ru-RU" sz="2800" dirty="0" err="1"/>
              <a:t>парафразів</a:t>
            </a:r>
            <a:r>
              <a:rPr lang="ru-RU" sz="2800" dirty="0"/>
              <a:t>	</a:t>
            </a:r>
            <a:br>
              <a:rPr lang="ru-RU" sz="2800" dirty="0"/>
            </a:br>
            <a:r>
              <a:rPr lang="ru-RU" sz="2800" dirty="0"/>
              <a:t>у </a:t>
            </a:r>
            <a:r>
              <a:rPr lang="ru-RU" sz="2800" dirty="0" err="1"/>
              <a:t>текстових</a:t>
            </a:r>
            <a:r>
              <a:rPr lang="ru-RU" sz="2800" dirty="0"/>
              <a:t> </a:t>
            </a:r>
            <a:r>
              <a:rPr lang="ru-RU" sz="2800" dirty="0" err="1"/>
              <a:t>даних</a:t>
            </a:r>
            <a:r>
              <a:rPr lang="ru-RU" sz="2800" dirty="0"/>
              <a:t> для автоматичного </a:t>
            </a:r>
            <a:r>
              <a:rPr lang="ru-RU" sz="2800" dirty="0" err="1"/>
              <a:t>визначення</a:t>
            </a:r>
            <a:r>
              <a:rPr lang="ru-RU" sz="2800" dirty="0"/>
              <a:t> </a:t>
            </a:r>
            <a:r>
              <a:rPr lang="ru-RU" sz="2800" dirty="0" err="1"/>
              <a:t>плагіату</a:t>
            </a:r>
            <a:endParaRPr sz="1400" dirty="0"/>
          </a:p>
        </p:txBody>
      </p:sp>
      <p:sp>
        <p:nvSpPr>
          <p:cNvPr id="63" name="Google Shape;63;p13"/>
          <p:cNvSpPr txBox="1">
            <a:spLocks noGrp="1"/>
          </p:cNvSpPr>
          <p:nvPr>
            <p:ph type="subTitle" idx="1"/>
          </p:nvPr>
        </p:nvSpPr>
        <p:spPr>
          <a:xfrm>
            <a:off x="1013791" y="3635124"/>
            <a:ext cx="6021859" cy="1508375"/>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endParaRPr dirty="0"/>
          </a:p>
          <a:p>
            <a:pPr marL="0" lvl="0" indent="0" algn="l" rtl="0">
              <a:spcBef>
                <a:spcPts val="0"/>
              </a:spcBef>
              <a:spcAft>
                <a:spcPts val="0"/>
              </a:spcAft>
              <a:buNone/>
            </a:pPr>
            <a:r>
              <a:rPr lang="uk-UA" dirty="0"/>
              <a:t>ст. гр. Мандзинець А.В.</a:t>
            </a:r>
            <a:endParaRPr dirty="0"/>
          </a:p>
          <a:p>
            <a:pPr marL="0" lvl="0" indent="0" algn="l" rtl="0">
              <a:spcBef>
                <a:spcPts val="0"/>
              </a:spcBef>
              <a:spcAft>
                <a:spcPts val="0"/>
              </a:spcAft>
              <a:buNone/>
            </a:pPr>
            <a:r>
              <a:rPr lang="uk" dirty="0"/>
              <a:t>Науковий керівник: к.т.н., доцент каф. ПІ Вечур О.В.</a:t>
            </a: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uk" dirty="0"/>
              <a:t>	25 травня 2026</a:t>
            </a:r>
            <a:endParaRPr dirty="0"/>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dirty="0"/>
              <a:t>Актуальність д</a:t>
            </a:r>
            <a:r>
              <a:rPr lang="uk" sz="3200" dirty="0"/>
              <a:t>ослідження</a:t>
            </a:r>
            <a:endParaRPr sz="3200" dirty="0"/>
          </a:p>
        </p:txBody>
      </p:sp>
      <p:sp>
        <p:nvSpPr>
          <p:cNvPr id="72" name="Google Shape;72;p14"/>
          <p:cNvSpPr txBox="1">
            <a:spLocks noGrp="1"/>
          </p:cNvSpPr>
          <p:nvPr>
            <p:ph type="body" idx="1"/>
          </p:nvPr>
        </p:nvSpPr>
        <p:spPr>
          <a:xfrm>
            <a:off x="311700" y="1225225"/>
            <a:ext cx="4664491" cy="3354000"/>
          </a:xfrm>
          <a:prstGeom prst="rect">
            <a:avLst/>
          </a:prstGeom>
        </p:spPr>
        <p:txBody>
          <a:bodyPr spcFirstLastPara="1" wrap="square" lIns="91425" tIns="91425" rIns="91425" bIns="91425" anchor="t" anchorCtr="0">
            <a:normAutofit fontScale="85000" lnSpcReduction="20000"/>
          </a:bodyPr>
          <a:lstStyle/>
          <a:p>
            <a:pPr marL="285750" indent="-285750">
              <a:spcBef>
                <a:spcPts val="1200"/>
              </a:spcBef>
              <a:spcAft>
                <a:spcPts val="1200"/>
              </a:spcAft>
            </a:pPr>
            <a:r>
              <a:rPr lang="uk-UA" dirty="0">
                <a:latin typeface="Open Sans" panose="020B0606030504020204" pitchFamily="34" charset="0"/>
                <a:ea typeface="Open Sans" panose="020B0606030504020204" pitchFamily="34" charset="0"/>
                <a:cs typeface="Open Sans" panose="020B0606030504020204" pitchFamily="34" charset="0"/>
              </a:rPr>
              <a:t>Стрімке поширення сервісів автоматичного перефразування (</a:t>
            </a:r>
            <a:r>
              <a:rPr lang="en-US" dirty="0" err="1">
                <a:latin typeface="Open Sans" panose="020B0606030504020204" pitchFamily="34" charset="0"/>
                <a:ea typeface="Open Sans" panose="020B0606030504020204" pitchFamily="34" charset="0"/>
                <a:cs typeface="Open Sans" panose="020B0606030504020204" pitchFamily="34" charset="0"/>
              </a:rPr>
              <a:t>SpinBot</a:t>
            </a:r>
            <a:r>
              <a:rPr lang="en-US" dirty="0">
                <a:latin typeface="Open Sans" panose="020B0606030504020204" pitchFamily="34" charset="0"/>
                <a:ea typeface="Open Sans" panose="020B0606030504020204" pitchFamily="34" charset="0"/>
                <a:cs typeface="Open Sans" panose="020B0606030504020204" pitchFamily="34" charset="0"/>
              </a:rPr>
              <a:t>, Paraphraser.io)</a:t>
            </a:r>
            <a:r>
              <a:rPr lang="uk-UA" dirty="0">
                <a:latin typeface="Open Sans" panose="020B0606030504020204" pitchFamily="34" charset="0"/>
                <a:ea typeface="Open Sans" panose="020B0606030504020204" pitchFamily="34" charset="0"/>
                <a:cs typeface="Open Sans" panose="020B0606030504020204" pitchFamily="34" charset="0"/>
              </a:rPr>
              <a:t> та великих </a:t>
            </a:r>
            <a:r>
              <a:rPr lang="uk-UA" dirty="0" err="1">
                <a:latin typeface="Open Sans" panose="020B0606030504020204" pitchFamily="34" charset="0"/>
                <a:ea typeface="Open Sans" panose="020B0606030504020204" pitchFamily="34" charset="0"/>
                <a:cs typeface="Open Sans" panose="020B0606030504020204" pitchFamily="34" charset="0"/>
              </a:rPr>
              <a:t>мовних</a:t>
            </a:r>
            <a:r>
              <a:rPr lang="uk-UA" dirty="0">
                <a:latin typeface="Open Sans" panose="020B0606030504020204" pitchFamily="34" charset="0"/>
                <a:ea typeface="Open Sans" panose="020B0606030504020204" pitchFamily="34" charset="0"/>
                <a:cs typeface="Open Sans" panose="020B0606030504020204" pitchFamily="34" charset="0"/>
              </a:rPr>
              <a:t> моделей (</a:t>
            </a:r>
            <a:r>
              <a:rPr lang="en-US" dirty="0">
                <a:latin typeface="Open Sans" panose="020B0606030504020204" pitchFamily="34" charset="0"/>
                <a:ea typeface="Open Sans" panose="020B0606030504020204" pitchFamily="34" charset="0"/>
                <a:cs typeface="Open Sans" panose="020B0606030504020204" pitchFamily="34" charset="0"/>
              </a:rPr>
              <a:t>GPT, Gemini, Claude)</a:t>
            </a:r>
          </a:p>
          <a:p>
            <a:pPr marL="285750" indent="-285750">
              <a:spcBef>
                <a:spcPts val="1200"/>
              </a:spcBef>
              <a:spcAft>
                <a:spcPts val="1200"/>
              </a:spcAft>
            </a:pPr>
            <a:r>
              <a:rPr lang="ru-RU" dirty="0" err="1">
                <a:latin typeface="Open Sans" panose="020B0606030504020204" pitchFamily="34" charset="0"/>
                <a:ea typeface="Open Sans" panose="020B0606030504020204" pitchFamily="34" charset="0"/>
                <a:cs typeface="Open Sans" panose="020B0606030504020204" pitchFamily="34" charset="0"/>
              </a:rPr>
              <a:t>Wahle</a:t>
            </a:r>
            <a:r>
              <a:rPr lang="ru-RU" dirty="0">
                <a:latin typeface="Open Sans" panose="020B0606030504020204" pitchFamily="34" charset="0"/>
                <a:ea typeface="Open Sans" panose="020B0606030504020204" pitchFamily="34" charset="0"/>
                <a:cs typeface="Open Sans" panose="020B0606030504020204" pitchFamily="34" charset="0"/>
              </a:rPr>
              <a:t> та </a:t>
            </a:r>
            <a:r>
              <a:rPr lang="ru-RU" dirty="0" err="1">
                <a:latin typeface="Open Sans" panose="020B0606030504020204" pitchFamily="34" charset="0"/>
                <a:ea typeface="Open Sans" panose="020B0606030504020204" pitchFamily="34" charset="0"/>
                <a:cs typeface="Open Sans" panose="020B0606030504020204" pitchFamily="34" charset="0"/>
              </a:rPr>
              <a:t>ін</a:t>
            </a:r>
            <a:r>
              <a:rPr lang="ru-RU" dirty="0">
                <a:latin typeface="Open Sans" panose="020B0606030504020204" pitchFamily="34" charset="0"/>
                <a:ea typeface="Open Sans" panose="020B0606030504020204" pitchFamily="34" charset="0"/>
                <a:cs typeface="Open Sans" panose="020B0606030504020204" pitchFamily="34" charset="0"/>
              </a:rPr>
              <a:t>. (2021): </a:t>
            </a:r>
            <a:r>
              <a:rPr lang="ru-RU" dirty="0" err="1">
                <a:latin typeface="Open Sans" panose="020B0606030504020204" pitchFamily="34" charset="0"/>
                <a:ea typeface="Open Sans" panose="020B0606030504020204" pitchFamily="34" charset="0"/>
                <a:cs typeface="Open Sans" panose="020B0606030504020204" pitchFamily="34" charset="0"/>
              </a:rPr>
              <a:t>сучасн</a:t>
            </a:r>
            <a:r>
              <a:rPr lang="uk-UA" dirty="0">
                <a:latin typeface="Open Sans" panose="020B0606030504020204" pitchFamily="34" charset="0"/>
                <a:ea typeface="Open Sans" panose="020B0606030504020204" pitchFamily="34" charset="0"/>
                <a:cs typeface="Open Sans" panose="020B0606030504020204" pitchFamily="34" charset="0"/>
              </a:rPr>
              <a:t>і</a:t>
            </a:r>
            <a:r>
              <a:rPr lang="ru-RU" dirty="0">
                <a:latin typeface="Open Sans" panose="020B0606030504020204" pitchFamily="34" charset="0"/>
                <a:ea typeface="Open Sans" panose="020B0606030504020204" pitchFamily="34" charset="0"/>
                <a:cs typeface="Open Sans" panose="020B0606030504020204" pitchFamily="34" charset="0"/>
              </a:rPr>
              <a:t> </a:t>
            </a:r>
            <a:r>
              <a:rPr lang="ru-RU" dirty="0" err="1">
                <a:latin typeface="Open Sans" panose="020B0606030504020204" pitchFamily="34" charset="0"/>
                <a:ea typeface="Open Sans" panose="020B0606030504020204" pitchFamily="34" charset="0"/>
                <a:cs typeface="Open Sans" panose="020B0606030504020204" pitchFamily="34" charset="0"/>
              </a:rPr>
              <a:t>модел</a:t>
            </a:r>
            <a:r>
              <a:rPr lang="uk-UA" dirty="0">
                <a:latin typeface="Open Sans" panose="020B0606030504020204" pitchFamily="34" charset="0"/>
                <a:ea typeface="Open Sans" panose="020B0606030504020204" pitchFamily="34" charset="0"/>
                <a:cs typeface="Open Sans" panose="020B0606030504020204" pitchFamily="34" charset="0"/>
              </a:rPr>
              <a:t>і</a:t>
            </a:r>
            <a:r>
              <a:rPr lang="ru-RU" dirty="0">
                <a:latin typeface="Open Sans" panose="020B0606030504020204" pitchFamily="34" charset="0"/>
                <a:ea typeface="Open Sans" panose="020B0606030504020204" pitchFamily="34" charset="0"/>
                <a:cs typeface="Open Sans" panose="020B0606030504020204" pitchFamily="34" charset="0"/>
              </a:rPr>
              <a:t>(</a:t>
            </a:r>
            <a:r>
              <a:rPr lang="en-US" dirty="0">
                <a:latin typeface="Open Sans" panose="020B0606030504020204" pitchFamily="34" charset="0"/>
                <a:ea typeface="Open Sans" panose="020B0606030504020204" pitchFamily="34" charset="0"/>
                <a:cs typeface="Open Sans" panose="020B0606030504020204" pitchFamily="34" charset="0"/>
              </a:rPr>
              <a:t>BERT, </a:t>
            </a:r>
            <a:r>
              <a:rPr lang="en-US" dirty="0" err="1">
                <a:latin typeface="Open Sans" panose="020B0606030504020204" pitchFamily="34" charset="0"/>
                <a:ea typeface="Open Sans" panose="020B0606030504020204" pitchFamily="34" charset="0"/>
                <a:cs typeface="Open Sans" panose="020B0606030504020204" pitchFamily="34" charset="0"/>
              </a:rPr>
              <a:t>RoBERTa</a:t>
            </a:r>
            <a:r>
              <a:rPr lang="uk-UA"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Longformer</a:t>
            </a:r>
            <a:r>
              <a:rPr lang="uk-UA" dirty="0">
                <a:latin typeface="Open Sans" panose="020B0606030504020204" pitchFamily="34" charset="0"/>
                <a:ea typeface="Open Sans" panose="020B0606030504020204" pitchFamily="34" charset="0"/>
                <a:cs typeface="Open Sans" panose="020B0606030504020204" pitchFamily="34" charset="0"/>
              </a:rPr>
              <a:t>) створюють </a:t>
            </a:r>
            <a:r>
              <a:rPr lang="uk-UA" dirty="0" err="1">
                <a:latin typeface="Open Sans" panose="020B0606030504020204" pitchFamily="34" charset="0"/>
                <a:ea typeface="Open Sans" panose="020B0606030504020204" pitchFamily="34" charset="0"/>
                <a:cs typeface="Open Sans" panose="020B0606030504020204" pitchFamily="34" charset="0"/>
              </a:rPr>
              <a:t>важкорізрнимі</a:t>
            </a:r>
            <a:r>
              <a:rPr lang="uk-UA" dirty="0">
                <a:latin typeface="Open Sans" panose="020B0606030504020204" pitchFamily="34" charset="0"/>
                <a:ea typeface="Open Sans" panose="020B0606030504020204" pitchFamily="34" charset="0"/>
                <a:cs typeface="Open Sans" panose="020B0606030504020204" pitchFamily="34" charset="0"/>
              </a:rPr>
              <a:t> людські парафрази</a:t>
            </a:r>
            <a:endParaRPr lang="en-US" dirty="0">
              <a:latin typeface="Open Sans" panose="020B0606030504020204" pitchFamily="34" charset="0"/>
              <a:ea typeface="Open Sans" panose="020B0606030504020204" pitchFamily="34" charset="0"/>
              <a:cs typeface="Open Sans" panose="020B0606030504020204" pitchFamily="34" charset="0"/>
            </a:endParaRPr>
          </a:p>
          <a:p>
            <a:pPr marL="285750" indent="-285750">
              <a:spcBef>
                <a:spcPts val="1200"/>
              </a:spcBef>
              <a:spcAft>
                <a:spcPts val="1200"/>
              </a:spcAft>
            </a:pPr>
            <a:r>
              <a:rPr lang="uk-UA" dirty="0">
                <a:latin typeface="Open Sans" panose="020B0606030504020204" pitchFamily="34" charset="0"/>
                <a:ea typeface="Open Sans" panose="020B0606030504020204" pitchFamily="34" charset="0"/>
                <a:cs typeface="Open Sans" panose="020B0606030504020204" pitchFamily="34" charset="0"/>
              </a:rPr>
              <a:t>Потреба перевіряти роботи на оригінальність у сфері, освіти, журналістики, </a:t>
            </a:r>
            <a:r>
              <a:rPr lang="uk-UA" dirty="0" err="1">
                <a:latin typeface="Open Sans" panose="020B0606030504020204" pitchFamily="34" charset="0"/>
                <a:ea typeface="Open Sans" panose="020B0606030504020204" pitchFamily="34" charset="0"/>
                <a:cs typeface="Open Sans" panose="020B0606030504020204" pitchFamily="34" charset="0"/>
              </a:rPr>
              <a:t>копірайтингу</a:t>
            </a:r>
            <a:endParaRPr lang="en-US" dirty="0">
              <a:latin typeface="Open Sans" panose="020B0606030504020204" pitchFamily="34" charset="0"/>
              <a:ea typeface="Open Sans" panose="020B0606030504020204" pitchFamily="34" charset="0"/>
              <a:cs typeface="Open Sans" panose="020B0606030504020204" pitchFamily="34" charset="0"/>
            </a:endParaRPr>
          </a:p>
          <a:p>
            <a:pPr marL="285750" indent="-285750">
              <a:spcBef>
                <a:spcPts val="1200"/>
              </a:spcBef>
              <a:spcAft>
                <a:spcPts val="1200"/>
              </a:spcAft>
            </a:pPr>
            <a:endParaRPr dirty="0">
              <a:latin typeface="Economica" panose="020B0604020202020204" charset="0"/>
            </a:endParaRPr>
          </a:p>
        </p:txBody>
      </p:sp>
      <p:pic>
        <p:nvPicPr>
          <p:cNvPr id="73" name="Google Shape;73;p1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93E68CA-DEF7-D32D-BFB6-7B402335F4C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2</a:t>
            </a:fld>
            <a:endParaRPr lang="uk-UA" dirty="0"/>
          </a:p>
        </p:txBody>
      </p:sp>
      <p:pic>
        <p:nvPicPr>
          <p:cNvPr id="10" name="Рисунок 9">
            <a:extLst>
              <a:ext uri="{FF2B5EF4-FFF2-40B4-BE49-F238E27FC236}">
                <a16:creationId xmlns:a16="http://schemas.microsoft.com/office/drawing/2014/main" id="{47980014-8045-EBCE-654D-116A438B813F}"/>
              </a:ext>
            </a:extLst>
          </p:cNvPr>
          <p:cNvPicPr>
            <a:picLocks noChangeAspect="1"/>
          </p:cNvPicPr>
          <p:nvPr/>
        </p:nvPicPr>
        <p:blipFill>
          <a:blip r:embed="rId4"/>
          <a:stretch>
            <a:fillRect/>
          </a:stretch>
        </p:blipFill>
        <p:spPr>
          <a:xfrm>
            <a:off x="4976191" y="1225225"/>
            <a:ext cx="3720551" cy="2722568"/>
          </a:xfrm>
          <a:prstGeom prst="rect">
            <a:avLst/>
          </a:prstGeom>
        </p:spPr>
      </p:pic>
      <p:sp>
        <p:nvSpPr>
          <p:cNvPr id="11" name="TextBox 10">
            <a:extLst>
              <a:ext uri="{FF2B5EF4-FFF2-40B4-BE49-F238E27FC236}">
                <a16:creationId xmlns:a16="http://schemas.microsoft.com/office/drawing/2014/main" id="{81684EB9-33FD-3FA6-CA4F-0370E7756C24}"/>
              </a:ext>
            </a:extLst>
          </p:cNvPr>
          <p:cNvSpPr txBox="1"/>
          <p:nvPr/>
        </p:nvSpPr>
        <p:spPr>
          <a:xfrm>
            <a:off x="5018966" y="4114800"/>
            <a:ext cx="4043327" cy="415498"/>
          </a:xfrm>
          <a:prstGeom prst="rect">
            <a:avLst/>
          </a:prstGeom>
          <a:noFill/>
        </p:spPr>
        <p:txBody>
          <a:bodyPr wrap="square" rtlCol="0">
            <a:spAutoFit/>
          </a:bodyPr>
          <a:lstStyle/>
          <a:p>
            <a:pPr algn="just"/>
            <a:r>
              <a:rPr lang="uk-UA" sz="1050" i="1" dirty="0"/>
              <a:t>Джерело: </a:t>
            </a:r>
            <a:r>
              <a:rPr lang="en-US" sz="1050" i="1" dirty="0">
                <a:latin typeface="Economica" panose="020B0604020202020204" charset="0"/>
              </a:rPr>
              <a:t>Survey on AI-Generated Plagiarism Detection: The Impact of Large Language Models on Academic Integrity</a:t>
            </a:r>
            <a:r>
              <a:rPr lang="uk-UA" sz="1050" i="1" dirty="0"/>
              <a:t> (</a:t>
            </a:r>
            <a:r>
              <a:rPr lang="en-US" sz="1050" i="1" dirty="0" err="1">
                <a:latin typeface="Economica" panose="020B0604020202020204" charset="0"/>
              </a:rPr>
              <a:t>Pudasaini</a:t>
            </a:r>
            <a:r>
              <a:rPr lang="uk-UA" sz="1050" i="1" dirty="0"/>
              <a:t> та ін., 2025)</a:t>
            </a:r>
            <a:endParaRPr lang="LID4096" sz="105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1248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Об’єкт, предмет та наукова програлина</a:t>
            </a:r>
            <a:endParaRPr sz="3200" dirty="0"/>
          </a:p>
        </p:txBody>
      </p:sp>
      <p:sp>
        <p:nvSpPr>
          <p:cNvPr id="79" name="Google Shape;79;p1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fontScale="92500" lnSpcReduction="20000"/>
          </a:bodyPr>
          <a:lstStyle/>
          <a:p>
            <a:pPr marL="285750" indent="-285750">
              <a:spcBef>
                <a:spcPts val="1500"/>
              </a:spcBef>
              <a:spcAft>
                <a:spcPts val="1200"/>
              </a:spcAft>
            </a:pPr>
            <a:r>
              <a:rPr lang="ru-RU" b="1" dirty="0" err="1"/>
              <a:t>Об’єкт</a:t>
            </a:r>
            <a:r>
              <a:rPr lang="ru-RU" b="1" dirty="0"/>
              <a:t> </a:t>
            </a:r>
            <a:r>
              <a:rPr lang="ru-RU" b="1" dirty="0" err="1"/>
              <a:t>дослідження</a:t>
            </a:r>
            <a:r>
              <a:rPr lang="ru-RU" b="1" dirty="0"/>
              <a:t>:</a:t>
            </a:r>
            <a:r>
              <a:rPr lang="ru-RU" dirty="0"/>
              <a:t> </a:t>
            </a:r>
            <a:r>
              <a:rPr lang="ru-RU" dirty="0" err="1"/>
              <a:t>процес</a:t>
            </a:r>
            <a:r>
              <a:rPr lang="ru-RU" dirty="0"/>
              <a:t> автоматичного </a:t>
            </a:r>
            <a:r>
              <a:rPr lang="ru-RU" dirty="0" err="1"/>
              <a:t>виявлення</a:t>
            </a:r>
            <a:r>
              <a:rPr lang="ru-RU" dirty="0"/>
              <a:t> </a:t>
            </a:r>
            <a:r>
              <a:rPr lang="ru-RU" dirty="0" err="1"/>
              <a:t>плагіату</a:t>
            </a:r>
            <a:r>
              <a:rPr lang="ru-RU" dirty="0"/>
              <a:t> у </a:t>
            </a:r>
            <a:r>
              <a:rPr lang="ru-RU" dirty="0" err="1"/>
              <a:t>текстових</a:t>
            </a:r>
            <a:r>
              <a:rPr lang="ru-RU" dirty="0"/>
              <a:t> документах.</a:t>
            </a:r>
          </a:p>
          <a:p>
            <a:pPr marL="285750" indent="-285750">
              <a:spcBef>
                <a:spcPts val="1500"/>
              </a:spcBef>
              <a:spcAft>
                <a:spcPts val="1200"/>
              </a:spcAft>
            </a:pPr>
            <a:r>
              <a:rPr lang="ru-RU" b="1" dirty="0"/>
              <a:t>Предмет </a:t>
            </a:r>
            <a:r>
              <a:rPr lang="ru-RU" b="1" dirty="0" err="1"/>
              <a:t>дослідження</a:t>
            </a:r>
            <a:r>
              <a:rPr lang="ru-RU" b="1" dirty="0"/>
              <a:t>: </a:t>
            </a:r>
            <a:r>
              <a:rPr lang="ru-RU" dirty="0" err="1"/>
              <a:t>методи</a:t>
            </a:r>
            <a:r>
              <a:rPr lang="ru-RU" dirty="0"/>
              <a:t> </a:t>
            </a:r>
            <a:r>
              <a:rPr lang="ru-RU" dirty="0" err="1"/>
              <a:t>виявлення</a:t>
            </a:r>
            <a:r>
              <a:rPr lang="ru-RU" dirty="0"/>
              <a:t> </a:t>
            </a:r>
            <a:r>
              <a:rPr lang="ru-RU" dirty="0" err="1"/>
              <a:t>подібності</a:t>
            </a:r>
            <a:r>
              <a:rPr lang="ru-RU" dirty="0"/>
              <a:t> </a:t>
            </a:r>
            <a:r>
              <a:rPr lang="ru-RU" dirty="0" err="1"/>
              <a:t>між</a:t>
            </a:r>
            <a:r>
              <a:rPr lang="ru-RU" dirty="0"/>
              <a:t> </a:t>
            </a:r>
            <a:r>
              <a:rPr lang="ru-RU" dirty="0" err="1"/>
              <a:t>перефразованими</a:t>
            </a:r>
            <a:r>
              <a:rPr lang="ru-RU" dirty="0"/>
              <a:t> парами </a:t>
            </a:r>
            <a:r>
              <a:rPr lang="ru-RU" dirty="0" err="1"/>
              <a:t>речень</a:t>
            </a:r>
            <a:r>
              <a:rPr lang="ru-RU" dirty="0"/>
              <a:t> для </a:t>
            </a:r>
            <a:r>
              <a:rPr lang="ru-RU" dirty="0" err="1"/>
              <a:t>української</a:t>
            </a:r>
            <a:r>
              <a:rPr lang="ru-RU" dirty="0"/>
              <a:t> та </a:t>
            </a:r>
            <a:r>
              <a:rPr lang="ru-RU" dirty="0" err="1"/>
              <a:t>англійської</a:t>
            </a:r>
            <a:r>
              <a:rPr lang="ru-RU" dirty="0"/>
              <a:t> мов як основа </a:t>
            </a:r>
            <a:r>
              <a:rPr lang="ru-RU" dirty="0" err="1"/>
              <a:t>системи</a:t>
            </a:r>
            <a:r>
              <a:rPr lang="ru-RU" dirty="0"/>
              <a:t> </a:t>
            </a:r>
            <a:r>
              <a:rPr lang="ru-RU" dirty="0" err="1"/>
              <a:t>виявлення</a:t>
            </a:r>
            <a:r>
              <a:rPr lang="ru-RU" dirty="0"/>
              <a:t> </a:t>
            </a:r>
            <a:r>
              <a:rPr lang="ru-RU" dirty="0" err="1"/>
              <a:t>плагіату</a:t>
            </a:r>
            <a:r>
              <a:rPr lang="ru-RU" dirty="0"/>
              <a:t> у </a:t>
            </a:r>
            <a:r>
              <a:rPr lang="ru-RU" dirty="0" err="1"/>
              <a:t>текстових</a:t>
            </a:r>
            <a:r>
              <a:rPr lang="ru-RU" dirty="0"/>
              <a:t> </a:t>
            </a:r>
            <a:r>
              <a:rPr lang="ru-RU" dirty="0" err="1"/>
              <a:t>даних</a:t>
            </a:r>
            <a:r>
              <a:rPr lang="ru-RU" dirty="0"/>
              <a:t>.</a:t>
            </a:r>
          </a:p>
          <a:p>
            <a:pPr marL="285750" indent="-285750">
              <a:spcBef>
                <a:spcPts val="1500"/>
              </a:spcBef>
              <a:spcAft>
                <a:spcPts val="1200"/>
              </a:spcAft>
            </a:pPr>
            <a:r>
              <a:rPr lang="ru-RU" b="1" dirty="0" err="1"/>
              <a:t>Наукова</a:t>
            </a:r>
            <a:r>
              <a:rPr lang="ru-RU" b="1" dirty="0"/>
              <a:t> прогалина: </a:t>
            </a:r>
            <a:r>
              <a:rPr lang="ru-RU" dirty="0"/>
              <a:t>мало </a:t>
            </a:r>
            <a:r>
              <a:rPr lang="ru-RU" dirty="0" err="1"/>
              <a:t>досліджено</a:t>
            </a:r>
            <a:r>
              <a:rPr lang="ru-RU" dirty="0"/>
              <a:t> </a:t>
            </a:r>
            <a:r>
              <a:rPr lang="ru-RU" dirty="0" err="1"/>
              <a:t>ефективність</a:t>
            </a:r>
            <a:r>
              <a:rPr lang="ru-RU" dirty="0"/>
              <a:t> </a:t>
            </a:r>
            <a:r>
              <a:rPr lang="ru-RU" dirty="0" err="1"/>
              <a:t>двоступеневих</a:t>
            </a:r>
            <a:r>
              <a:rPr lang="ru-RU" dirty="0"/>
              <a:t> </a:t>
            </a:r>
            <a:r>
              <a:rPr lang="ru-RU" dirty="0" err="1"/>
              <a:t>архітектур</a:t>
            </a:r>
            <a:r>
              <a:rPr lang="ru-RU" dirty="0"/>
              <a:t> </a:t>
            </a:r>
            <a:r>
              <a:rPr lang="en-US" dirty="0">
                <a:latin typeface="Economica" panose="020B0604020202020204" charset="0"/>
              </a:rPr>
              <a:t>Retrieve and Re-Rank</a:t>
            </a:r>
            <a:r>
              <a:rPr lang="ru-RU" dirty="0"/>
              <a:t> та </a:t>
            </a:r>
            <a:r>
              <a:rPr lang="ru-RU" dirty="0" err="1"/>
              <a:t>донавчання</a:t>
            </a:r>
            <a:r>
              <a:rPr lang="ru-RU" dirty="0"/>
              <a:t> на </a:t>
            </a:r>
            <a:r>
              <a:rPr lang="ru-RU" dirty="0" err="1"/>
              <a:t>об’єднаних</a:t>
            </a:r>
            <a:r>
              <a:rPr lang="ru-RU" dirty="0"/>
              <a:t> датасетах для </a:t>
            </a:r>
            <a:r>
              <a:rPr lang="ru-RU" dirty="0" err="1"/>
              <a:t>української</a:t>
            </a:r>
            <a:r>
              <a:rPr lang="ru-RU" dirty="0"/>
              <a:t> </a:t>
            </a:r>
            <a:r>
              <a:rPr lang="ru-RU" dirty="0" err="1"/>
              <a:t>мови</a:t>
            </a:r>
            <a:r>
              <a:rPr lang="ru-RU" dirty="0"/>
              <a:t> </a:t>
            </a:r>
            <a:endParaRPr dirty="0">
              <a:latin typeface="Economica" panose="020B0604020202020204" charset="0"/>
            </a:endParaRPr>
          </a:p>
        </p:txBody>
      </p:sp>
      <p:pic>
        <p:nvPicPr>
          <p:cNvPr id="80" name="Google Shape;80;p15"/>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B62475D-5E0B-A5AC-3922-2970FC56A64D}"/>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3</a:t>
            </a:fld>
            <a:endParaRPr lang="uk-U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5411FD7D-64C1-C8C0-AA4D-F3EDA78DB9C4}"/>
            </a:ext>
          </a:extLst>
        </p:cNvPr>
        <p:cNvGrpSpPr/>
        <p:nvPr/>
      </p:nvGrpSpPr>
      <p:grpSpPr>
        <a:xfrm>
          <a:off x="0" y="0"/>
          <a:ext cx="0" cy="0"/>
          <a:chOff x="0" y="0"/>
          <a:chExt cx="0" cy="0"/>
        </a:xfrm>
      </p:grpSpPr>
      <p:sp>
        <p:nvSpPr>
          <p:cNvPr id="78" name="Google Shape;78;p15">
            <a:extLst>
              <a:ext uri="{FF2B5EF4-FFF2-40B4-BE49-F238E27FC236}">
                <a16:creationId xmlns:a16="http://schemas.microsoft.com/office/drawing/2014/main" id="{CA80BD99-CDE5-4FF7-C092-E10330BB1978}"/>
              </a:ext>
            </a:extLst>
          </p:cNvPr>
          <p:cNvSpPr txBox="1">
            <a:spLocks noGrp="1"/>
          </p:cNvSpPr>
          <p:nvPr>
            <p:ph type="title"/>
          </p:nvPr>
        </p:nvSpPr>
        <p:spPr>
          <a:xfrm>
            <a:off x="311700" y="-1248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Огляд літератури: методи</a:t>
            </a:r>
            <a:endParaRPr sz="3200" dirty="0"/>
          </a:p>
        </p:txBody>
      </p:sp>
      <p:sp>
        <p:nvSpPr>
          <p:cNvPr id="79" name="Google Shape;79;p15">
            <a:extLst>
              <a:ext uri="{FF2B5EF4-FFF2-40B4-BE49-F238E27FC236}">
                <a16:creationId xmlns:a16="http://schemas.microsoft.com/office/drawing/2014/main" id="{19B9D4C0-D8F4-60C2-01B8-151E54988051}"/>
              </a:ext>
            </a:extLst>
          </p:cNvPr>
          <p:cNvSpPr txBox="1">
            <a:spLocks noGrp="1"/>
          </p:cNvSpPr>
          <p:nvPr>
            <p:ph type="body" idx="1"/>
          </p:nvPr>
        </p:nvSpPr>
        <p:spPr>
          <a:xfrm>
            <a:off x="311700" y="2795166"/>
            <a:ext cx="8021978" cy="1805044"/>
          </a:xfrm>
          <a:prstGeom prst="rect">
            <a:avLst/>
          </a:prstGeom>
        </p:spPr>
        <p:txBody>
          <a:bodyPr spcFirstLastPara="1" wrap="square" lIns="91425" tIns="91425" rIns="91425" bIns="91425" anchor="t" anchorCtr="0">
            <a:normAutofit fontScale="77500" lnSpcReduction="20000"/>
          </a:bodyPr>
          <a:lstStyle/>
          <a:p>
            <a:pPr marL="285750" indent="-285750">
              <a:spcBef>
                <a:spcPts val="1500"/>
              </a:spcBef>
            </a:pPr>
            <a:r>
              <a:rPr lang="uk-UA" dirty="0">
                <a:solidFill>
                  <a:srgbClr val="0D0D0D"/>
                </a:solidFill>
                <a:highlight>
                  <a:srgbClr val="FFFFFF"/>
                </a:highlight>
              </a:rPr>
              <a:t>Спеціалізовані крос-</a:t>
            </a:r>
            <a:r>
              <a:rPr lang="uk-UA" dirty="0" err="1">
                <a:solidFill>
                  <a:srgbClr val="0D0D0D"/>
                </a:solidFill>
                <a:highlight>
                  <a:srgbClr val="FFFFFF"/>
                </a:highlight>
              </a:rPr>
              <a:t>енкодери</a:t>
            </a:r>
            <a:r>
              <a:rPr lang="uk-UA" dirty="0">
                <a:solidFill>
                  <a:srgbClr val="0D0D0D"/>
                </a:solidFill>
                <a:highlight>
                  <a:srgbClr val="FFFFFF"/>
                </a:highlight>
              </a:rPr>
              <a:t>: </a:t>
            </a:r>
            <a:r>
              <a:rPr lang="en-US" dirty="0" err="1">
                <a:solidFill>
                  <a:srgbClr val="0D0D0D"/>
                </a:solidFill>
                <a:highlight>
                  <a:srgbClr val="FFFFFF"/>
                </a:highlight>
              </a:rPr>
              <a:t>bge-reranker</a:t>
            </a:r>
            <a:r>
              <a:rPr lang="en-US" dirty="0">
                <a:solidFill>
                  <a:srgbClr val="0D0D0D"/>
                </a:solidFill>
                <a:highlight>
                  <a:srgbClr val="FFFFFF"/>
                </a:highlight>
              </a:rPr>
              <a:t> (Xiao </a:t>
            </a:r>
            <a:r>
              <a:rPr lang="uk-UA" dirty="0">
                <a:solidFill>
                  <a:srgbClr val="0D0D0D"/>
                </a:solidFill>
                <a:highlight>
                  <a:srgbClr val="FFFFFF"/>
                </a:highlight>
              </a:rPr>
              <a:t>та </a:t>
            </a:r>
            <a:r>
              <a:rPr lang="uk-UA" dirty="0" err="1">
                <a:solidFill>
                  <a:srgbClr val="0D0D0D"/>
                </a:solidFill>
                <a:highlight>
                  <a:srgbClr val="FFFFFF"/>
                </a:highlight>
              </a:rPr>
              <a:t>ін</a:t>
            </a:r>
            <a:r>
              <a:rPr lang="en-US" dirty="0">
                <a:solidFill>
                  <a:srgbClr val="0D0D0D"/>
                </a:solidFill>
                <a:highlight>
                  <a:srgbClr val="FFFFFF"/>
                </a:highlight>
              </a:rPr>
              <a:t>., 2024)</a:t>
            </a:r>
          </a:p>
          <a:p>
            <a:pPr marL="285750" indent="-285750">
              <a:spcBef>
                <a:spcPts val="1500"/>
              </a:spcBef>
            </a:pPr>
            <a:r>
              <a:rPr lang="uk-UA" dirty="0">
                <a:solidFill>
                  <a:srgbClr val="0D0D0D"/>
                </a:solidFill>
                <a:highlight>
                  <a:srgbClr val="FFFFFF"/>
                </a:highlight>
              </a:rPr>
              <a:t>Поєднання</a:t>
            </a:r>
            <a:r>
              <a:rPr lang="en-US" dirty="0">
                <a:solidFill>
                  <a:srgbClr val="0D0D0D"/>
                </a:solidFill>
                <a:highlight>
                  <a:srgbClr val="FFFFFF"/>
                </a:highlight>
              </a:rPr>
              <a:t> </a:t>
            </a:r>
            <a:r>
              <a:rPr lang="uk-UA" dirty="0">
                <a:solidFill>
                  <a:srgbClr val="0D0D0D"/>
                </a:solidFill>
                <a:highlight>
                  <a:srgbClr val="FFFFFF"/>
                </a:highlight>
              </a:rPr>
              <a:t>архітектури </a:t>
            </a:r>
            <a:r>
              <a:rPr lang="uk-UA" dirty="0" err="1">
                <a:solidFill>
                  <a:srgbClr val="0D0D0D"/>
                </a:solidFill>
                <a:highlight>
                  <a:srgbClr val="FFFFFF"/>
                </a:highlight>
              </a:rPr>
              <a:t>бі</a:t>
            </a:r>
            <a:r>
              <a:rPr lang="uk-UA" dirty="0">
                <a:solidFill>
                  <a:srgbClr val="0D0D0D"/>
                </a:solidFill>
                <a:highlight>
                  <a:srgbClr val="FFFFFF"/>
                </a:highlight>
              </a:rPr>
              <a:t>- та крос </a:t>
            </a:r>
            <a:r>
              <a:rPr lang="uk-UA" dirty="0" err="1">
                <a:solidFill>
                  <a:srgbClr val="0D0D0D"/>
                </a:solidFill>
                <a:highlight>
                  <a:srgbClr val="FFFFFF"/>
                </a:highlight>
              </a:rPr>
              <a:t>енкодерів</a:t>
            </a:r>
            <a:r>
              <a:rPr lang="uk-UA" dirty="0">
                <a:solidFill>
                  <a:srgbClr val="0D0D0D"/>
                </a:solidFill>
                <a:highlight>
                  <a:srgbClr val="FFFFFF"/>
                </a:highlight>
              </a:rPr>
              <a:t>: </a:t>
            </a:r>
            <a:r>
              <a:rPr lang="en-US" dirty="0">
                <a:solidFill>
                  <a:srgbClr val="0D0D0D"/>
                </a:solidFill>
                <a:highlight>
                  <a:srgbClr val="FFFFFF"/>
                </a:highlight>
              </a:rPr>
              <a:t>Sentence-CROBI (Ortiz-Barajas </a:t>
            </a:r>
            <a:r>
              <a:rPr lang="uk-UA" dirty="0">
                <a:solidFill>
                  <a:srgbClr val="0D0D0D"/>
                </a:solidFill>
                <a:highlight>
                  <a:srgbClr val="FFFFFF"/>
                </a:highlight>
              </a:rPr>
              <a:t>та </a:t>
            </a:r>
            <a:r>
              <a:rPr lang="uk-UA" dirty="0" err="1">
                <a:solidFill>
                  <a:srgbClr val="0D0D0D"/>
                </a:solidFill>
                <a:highlight>
                  <a:srgbClr val="FFFFFF"/>
                </a:highlight>
              </a:rPr>
              <a:t>ін</a:t>
            </a:r>
            <a:r>
              <a:rPr lang="en-US" dirty="0">
                <a:solidFill>
                  <a:srgbClr val="0D0D0D"/>
                </a:solidFill>
                <a:highlight>
                  <a:srgbClr val="FFFFFF"/>
                </a:highlight>
              </a:rPr>
              <a:t>., 2022)</a:t>
            </a:r>
          </a:p>
          <a:p>
            <a:pPr marL="285750" indent="-285750">
              <a:spcBef>
                <a:spcPts val="1500"/>
              </a:spcBef>
            </a:pPr>
            <a:r>
              <a:rPr lang="uk-UA" dirty="0">
                <a:solidFill>
                  <a:srgbClr val="0D0D0D"/>
                </a:solidFill>
                <a:highlight>
                  <a:srgbClr val="FFFFFF"/>
                </a:highlight>
              </a:rPr>
              <a:t>Огляд змагання </a:t>
            </a:r>
            <a:r>
              <a:rPr lang="en-US" dirty="0">
                <a:solidFill>
                  <a:srgbClr val="0D0D0D"/>
                </a:solidFill>
                <a:highlight>
                  <a:srgbClr val="FFFFFF"/>
                </a:highlight>
              </a:rPr>
              <a:t>PAN 2025: </a:t>
            </a:r>
            <a:r>
              <a:rPr lang="ru-RU" dirty="0" err="1">
                <a:solidFill>
                  <a:srgbClr val="0D0D0D"/>
                </a:solidFill>
                <a:highlight>
                  <a:srgbClr val="FFFFFF"/>
                </a:highlight>
              </a:rPr>
              <a:t>переважна</a:t>
            </a:r>
            <a:r>
              <a:rPr lang="ru-RU" dirty="0">
                <a:solidFill>
                  <a:srgbClr val="0D0D0D"/>
                </a:solidFill>
                <a:highlight>
                  <a:srgbClr val="FFFFFF"/>
                </a:highlight>
              </a:rPr>
              <a:t> </a:t>
            </a:r>
            <a:r>
              <a:rPr lang="ru-RU" dirty="0" err="1">
                <a:solidFill>
                  <a:srgbClr val="0D0D0D"/>
                </a:solidFill>
                <a:highlight>
                  <a:srgbClr val="FFFFFF"/>
                </a:highlight>
              </a:rPr>
              <a:t>більшість</a:t>
            </a:r>
            <a:r>
              <a:rPr lang="ru-RU" dirty="0">
                <a:solidFill>
                  <a:srgbClr val="0D0D0D"/>
                </a:solidFill>
                <a:highlight>
                  <a:srgbClr val="FFFFFF"/>
                </a:highlight>
              </a:rPr>
              <a:t> </a:t>
            </a:r>
            <a:r>
              <a:rPr lang="ru-RU" dirty="0" err="1">
                <a:solidFill>
                  <a:srgbClr val="0D0D0D"/>
                </a:solidFill>
                <a:highlight>
                  <a:srgbClr val="FFFFFF"/>
                </a:highlight>
              </a:rPr>
              <a:t>плагіат</a:t>
            </a:r>
            <a:r>
              <a:rPr lang="ru-RU" dirty="0">
                <a:solidFill>
                  <a:srgbClr val="0D0D0D"/>
                </a:solidFill>
                <a:highlight>
                  <a:srgbClr val="FFFFFF"/>
                </a:highlight>
              </a:rPr>
              <a:t>-систем </a:t>
            </a:r>
            <a:r>
              <a:rPr lang="ru-RU" dirty="0" err="1">
                <a:solidFill>
                  <a:srgbClr val="0D0D0D"/>
                </a:solidFill>
                <a:highlight>
                  <a:srgbClr val="FFFFFF"/>
                </a:highlight>
              </a:rPr>
              <a:t>використовують</a:t>
            </a:r>
            <a:r>
              <a:rPr lang="ru-RU" dirty="0">
                <a:solidFill>
                  <a:srgbClr val="0D0D0D"/>
                </a:solidFill>
                <a:highlight>
                  <a:srgbClr val="FFFFFF"/>
                </a:highlight>
              </a:rPr>
              <a:t> </a:t>
            </a:r>
            <a:r>
              <a:rPr lang="uk-UA" dirty="0" err="1">
                <a:solidFill>
                  <a:srgbClr val="0D0D0D"/>
                </a:solidFill>
                <a:highlight>
                  <a:srgbClr val="FFFFFF"/>
                </a:highlight>
              </a:rPr>
              <a:t>двостадійну</a:t>
            </a:r>
            <a:r>
              <a:rPr lang="uk-UA" dirty="0">
                <a:solidFill>
                  <a:srgbClr val="0D0D0D"/>
                </a:solidFill>
                <a:highlight>
                  <a:srgbClr val="FFFFFF"/>
                </a:highlight>
              </a:rPr>
              <a:t> архітектуру</a:t>
            </a:r>
            <a:endParaRPr lang="en-US" dirty="0">
              <a:solidFill>
                <a:srgbClr val="0D0D0D"/>
              </a:solidFill>
              <a:highlight>
                <a:srgbClr val="FFFFFF"/>
              </a:highlight>
            </a:endParaRPr>
          </a:p>
          <a:p>
            <a:pPr marL="285750" indent="-285750">
              <a:spcBef>
                <a:spcPts val="1500"/>
              </a:spcBef>
            </a:pPr>
            <a:endParaRPr dirty="0"/>
          </a:p>
        </p:txBody>
      </p:sp>
      <p:pic>
        <p:nvPicPr>
          <p:cNvPr id="80" name="Google Shape;80;p15">
            <a:extLst>
              <a:ext uri="{FF2B5EF4-FFF2-40B4-BE49-F238E27FC236}">
                <a16:creationId xmlns:a16="http://schemas.microsoft.com/office/drawing/2014/main" id="{17F9583B-D6BD-056B-1CC6-996D4E651B61}"/>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FC7F1394-0EC7-8F1F-2D04-C21BB73DF48E}"/>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4</a:t>
            </a:fld>
            <a:endParaRPr lang="uk-UA" dirty="0"/>
          </a:p>
        </p:txBody>
      </p:sp>
      <p:pic>
        <p:nvPicPr>
          <p:cNvPr id="1029" name="Picture 5" descr="InformationRetrieval">
            <a:extLst>
              <a:ext uri="{FF2B5EF4-FFF2-40B4-BE49-F238E27FC236}">
                <a16:creationId xmlns:a16="http://schemas.microsoft.com/office/drawing/2014/main" id="{78947964-8393-0CD3-87E5-7964C905DA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5244" y="1084908"/>
            <a:ext cx="4728756" cy="1396109"/>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79;p15">
            <a:extLst>
              <a:ext uri="{FF2B5EF4-FFF2-40B4-BE49-F238E27FC236}">
                <a16:creationId xmlns:a16="http://schemas.microsoft.com/office/drawing/2014/main" id="{55B3138D-372F-A123-85D7-DD19230C0A4B}"/>
              </a:ext>
            </a:extLst>
          </p:cNvPr>
          <p:cNvSpPr txBox="1">
            <a:spLocks/>
          </p:cNvSpPr>
          <p:nvPr/>
        </p:nvSpPr>
        <p:spPr>
          <a:xfrm>
            <a:off x="290312" y="1235522"/>
            <a:ext cx="4281688" cy="1805044"/>
          </a:xfrm>
          <a:prstGeom prst="rect">
            <a:avLst/>
          </a:prstGeom>
          <a:noFill/>
          <a:ln>
            <a:noFill/>
          </a:ln>
        </p:spPr>
        <p:txBody>
          <a:bodyPr spcFirstLastPara="1" wrap="square" lIns="91425" tIns="91425" rIns="91425" bIns="91425" anchor="t" anchorCtr="0">
            <a:normAutofit fontScale="62500" lnSpcReduction="20000"/>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eaLnBrk="1" hangingPunct="1">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pPr marL="285750" indent="-285750">
              <a:spcBef>
                <a:spcPts val="1500"/>
              </a:spcBef>
            </a:pPr>
            <a:r>
              <a:rPr lang="uk-UA" sz="2200" dirty="0">
                <a:solidFill>
                  <a:srgbClr val="0D0D0D"/>
                </a:solidFill>
                <a:highlight>
                  <a:srgbClr val="FFFFFF"/>
                </a:highlight>
              </a:rPr>
              <a:t>Лексичні методи: </a:t>
            </a:r>
            <a:r>
              <a:rPr lang="en-US" sz="2200" dirty="0">
                <a:solidFill>
                  <a:srgbClr val="0D0D0D"/>
                </a:solidFill>
                <a:highlight>
                  <a:srgbClr val="FFFFFF"/>
                </a:highlight>
              </a:rPr>
              <a:t>TF-IDF </a:t>
            </a:r>
            <a:r>
              <a:rPr lang="uk-UA" sz="2200" dirty="0">
                <a:solidFill>
                  <a:srgbClr val="0D0D0D"/>
                </a:solidFill>
                <a:highlight>
                  <a:srgbClr val="FFFFFF"/>
                </a:highlight>
              </a:rPr>
              <a:t>з </a:t>
            </a:r>
            <a:r>
              <a:rPr lang="uk-UA" sz="2200" dirty="0" err="1">
                <a:solidFill>
                  <a:srgbClr val="0D0D0D"/>
                </a:solidFill>
                <a:highlight>
                  <a:srgbClr val="FFFFFF"/>
                </a:highlight>
              </a:rPr>
              <a:t>косинусною</a:t>
            </a:r>
            <a:r>
              <a:rPr lang="uk-UA" sz="2200" dirty="0">
                <a:solidFill>
                  <a:srgbClr val="0D0D0D"/>
                </a:solidFill>
                <a:highlight>
                  <a:srgbClr val="FFFFFF"/>
                </a:highlight>
              </a:rPr>
              <a:t> подібністю (</a:t>
            </a:r>
            <a:r>
              <a:rPr lang="en-US" sz="2200" dirty="0">
                <a:solidFill>
                  <a:srgbClr val="0D0D0D"/>
                </a:solidFill>
                <a:highlight>
                  <a:srgbClr val="FFFFFF"/>
                </a:highlight>
              </a:rPr>
              <a:t>Salton </a:t>
            </a:r>
            <a:r>
              <a:rPr lang="uk-UA" sz="2200" dirty="0">
                <a:solidFill>
                  <a:srgbClr val="0D0D0D"/>
                </a:solidFill>
                <a:highlight>
                  <a:srgbClr val="FFFFFF"/>
                </a:highlight>
              </a:rPr>
              <a:t>та </a:t>
            </a:r>
            <a:r>
              <a:rPr lang="en-US" sz="2200" dirty="0">
                <a:solidFill>
                  <a:srgbClr val="0D0D0D"/>
                </a:solidFill>
                <a:highlight>
                  <a:srgbClr val="FFFFFF"/>
                </a:highlight>
              </a:rPr>
              <a:t>Buckley, 1988), </a:t>
            </a:r>
            <a:r>
              <a:rPr lang="uk-UA" sz="2200" dirty="0">
                <a:solidFill>
                  <a:srgbClr val="0D0D0D"/>
                </a:solidFill>
                <a:highlight>
                  <a:srgbClr val="FFFFFF"/>
                </a:highlight>
              </a:rPr>
              <a:t>коефіцієнт </a:t>
            </a:r>
            <a:r>
              <a:rPr lang="uk-UA" sz="2200" dirty="0" err="1">
                <a:solidFill>
                  <a:srgbClr val="0D0D0D"/>
                </a:solidFill>
                <a:highlight>
                  <a:srgbClr val="FFFFFF"/>
                </a:highlight>
              </a:rPr>
              <a:t>Жаккара</a:t>
            </a:r>
            <a:endParaRPr lang="uk-UA" sz="2200" dirty="0">
              <a:solidFill>
                <a:srgbClr val="0D0D0D"/>
              </a:solidFill>
              <a:highlight>
                <a:srgbClr val="FFFFFF"/>
              </a:highlight>
            </a:endParaRPr>
          </a:p>
          <a:p>
            <a:pPr marL="285750" indent="-285750">
              <a:spcBef>
                <a:spcPts val="1500"/>
              </a:spcBef>
            </a:pPr>
            <a:r>
              <a:rPr lang="uk-UA" sz="2200" dirty="0" err="1">
                <a:solidFill>
                  <a:srgbClr val="0D0D0D"/>
                </a:solidFill>
                <a:highlight>
                  <a:srgbClr val="FFFFFF"/>
                </a:highlight>
              </a:rPr>
              <a:t>Трансформерні</a:t>
            </a:r>
            <a:r>
              <a:rPr lang="uk-UA" sz="2200" dirty="0">
                <a:solidFill>
                  <a:srgbClr val="0D0D0D"/>
                </a:solidFill>
                <a:highlight>
                  <a:srgbClr val="FFFFFF"/>
                </a:highlight>
              </a:rPr>
              <a:t> архітектури: </a:t>
            </a:r>
            <a:r>
              <a:rPr lang="en-US" sz="2200" dirty="0">
                <a:solidFill>
                  <a:srgbClr val="0D0D0D"/>
                </a:solidFill>
                <a:highlight>
                  <a:srgbClr val="FFFFFF"/>
                </a:highlight>
              </a:rPr>
              <a:t>Sentence-BERT (Reimers </a:t>
            </a:r>
            <a:r>
              <a:rPr lang="uk-UA" sz="2200" dirty="0">
                <a:solidFill>
                  <a:srgbClr val="0D0D0D"/>
                </a:solidFill>
                <a:highlight>
                  <a:srgbClr val="FFFFFF"/>
                </a:highlight>
              </a:rPr>
              <a:t>і </a:t>
            </a:r>
            <a:r>
              <a:rPr lang="en-US" sz="2200" dirty="0" err="1">
                <a:solidFill>
                  <a:srgbClr val="0D0D0D"/>
                </a:solidFill>
                <a:highlight>
                  <a:srgbClr val="FFFFFF"/>
                </a:highlight>
              </a:rPr>
              <a:t>Gurevych</a:t>
            </a:r>
            <a:r>
              <a:rPr lang="en-US" sz="2200" dirty="0">
                <a:solidFill>
                  <a:srgbClr val="0D0D0D"/>
                </a:solidFill>
                <a:highlight>
                  <a:srgbClr val="FFFFFF"/>
                </a:highlight>
              </a:rPr>
              <a:t>, 2019), BERT (Devlin </a:t>
            </a:r>
            <a:r>
              <a:rPr lang="uk-UA" sz="2200" dirty="0">
                <a:solidFill>
                  <a:srgbClr val="0D0D0D"/>
                </a:solidFill>
                <a:highlight>
                  <a:srgbClr val="FFFFFF"/>
                </a:highlight>
              </a:rPr>
              <a:t>та ін., 2019)</a:t>
            </a:r>
          </a:p>
          <a:p>
            <a:pPr marL="285750" indent="-285750">
              <a:spcBef>
                <a:spcPts val="1500"/>
              </a:spcBef>
            </a:pPr>
            <a:endParaRPr lang="uk-UA" dirty="0"/>
          </a:p>
        </p:txBody>
      </p:sp>
    </p:spTree>
    <p:extLst>
      <p:ext uri="{BB962C8B-B14F-4D97-AF65-F5344CB8AC3E}">
        <p14:creationId xmlns:p14="http://schemas.microsoft.com/office/powerpoint/2010/main" val="145487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6ED6A952-DEB4-F361-FA68-FED2FB682449}"/>
            </a:ext>
          </a:extLst>
        </p:cNvPr>
        <p:cNvGrpSpPr/>
        <p:nvPr/>
      </p:nvGrpSpPr>
      <p:grpSpPr>
        <a:xfrm>
          <a:off x="0" y="0"/>
          <a:ext cx="0" cy="0"/>
          <a:chOff x="0" y="0"/>
          <a:chExt cx="0" cy="0"/>
        </a:xfrm>
      </p:grpSpPr>
      <p:sp>
        <p:nvSpPr>
          <p:cNvPr id="78" name="Google Shape;78;p15">
            <a:extLst>
              <a:ext uri="{FF2B5EF4-FFF2-40B4-BE49-F238E27FC236}">
                <a16:creationId xmlns:a16="http://schemas.microsoft.com/office/drawing/2014/main" id="{609FF59E-3C47-3950-ECB1-4913697517E6}"/>
              </a:ext>
            </a:extLst>
          </p:cNvPr>
          <p:cNvSpPr txBox="1">
            <a:spLocks noGrp="1"/>
          </p:cNvSpPr>
          <p:nvPr>
            <p:ph type="title"/>
          </p:nvPr>
        </p:nvSpPr>
        <p:spPr>
          <a:xfrm>
            <a:off x="311700" y="-1248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Огляд літератури: </a:t>
            </a:r>
            <a:r>
              <a:rPr lang="uk-UA" sz="3200" dirty="0"/>
              <a:t>українська мова</a:t>
            </a:r>
            <a:endParaRPr sz="3200" dirty="0"/>
          </a:p>
        </p:txBody>
      </p:sp>
      <p:sp>
        <p:nvSpPr>
          <p:cNvPr id="79" name="Google Shape;79;p15">
            <a:extLst>
              <a:ext uri="{FF2B5EF4-FFF2-40B4-BE49-F238E27FC236}">
                <a16:creationId xmlns:a16="http://schemas.microsoft.com/office/drawing/2014/main" id="{14F6B42A-9573-9773-C331-57968CB5EBCB}"/>
              </a:ext>
            </a:extLst>
          </p:cNvPr>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285750" indent="-285750">
              <a:spcBef>
                <a:spcPts val="1500"/>
              </a:spcBef>
            </a:pPr>
            <a:r>
              <a:rPr lang="en-US" dirty="0"/>
              <a:t>Machine Learning Model for Paraphrases Detection Based </a:t>
            </a:r>
            <a:r>
              <a:rPr lang="en-US" dirty="0" err="1"/>
              <a:t>onText</a:t>
            </a:r>
            <a:r>
              <a:rPr lang="en-US" dirty="0"/>
              <a:t> Content Pair Binary Classification (</a:t>
            </a:r>
            <a:r>
              <a:rPr lang="en-US" dirty="0" err="1"/>
              <a:t>Kholodna</a:t>
            </a:r>
            <a:r>
              <a:rPr lang="en-US" dirty="0"/>
              <a:t> </a:t>
            </a:r>
            <a:r>
              <a:rPr lang="uk-UA" dirty="0"/>
              <a:t>та ін., 2022)</a:t>
            </a:r>
          </a:p>
          <a:p>
            <a:pPr marL="285750" indent="-285750">
              <a:spcBef>
                <a:spcPts val="1500"/>
              </a:spcBef>
            </a:pPr>
            <a:r>
              <a:rPr lang="en-US" dirty="0"/>
              <a:t>Precision vs. Perturbation: Robustness Analysis of Synonym Attacks in Ukrainian NLP</a:t>
            </a:r>
            <a:r>
              <a:rPr lang="uk-UA" dirty="0"/>
              <a:t> (</a:t>
            </a:r>
            <a:r>
              <a:rPr lang="en-US" dirty="0" err="1"/>
              <a:t>Mudryi</a:t>
            </a:r>
            <a:r>
              <a:rPr lang="uk-UA" dirty="0"/>
              <a:t> та </a:t>
            </a:r>
            <a:r>
              <a:rPr lang="en-US" dirty="0"/>
              <a:t>Ignatenko</a:t>
            </a:r>
            <a:r>
              <a:rPr lang="uk-UA" dirty="0"/>
              <a:t>, 2025)</a:t>
            </a:r>
            <a:endParaRPr lang="en-US" dirty="0"/>
          </a:p>
          <a:p>
            <a:pPr marL="285750" indent="-285750">
              <a:spcBef>
                <a:spcPts val="1500"/>
              </a:spcBef>
            </a:pPr>
            <a:r>
              <a:rPr lang="en-US" dirty="0" err="1"/>
              <a:t>Spivavtor</a:t>
            </a:r>
            <a:r>
              <a:rPr lang="en-US" dirty="0"/>
              <a:t>: An Instruction Tuned Ukrainian Text Editing Model (Saini </a:t>
            </a:r>
            <a:r>
              <a:rPr lang="uk-UA" dirty="0"/>
              <a:t>та ін., 2024)</a:t>
            </a:r>
            <a:endParaRPr lang="en-US" dirty="0"/>
          </a:p>
          <a:p>
            <a:pPr marL="285750" indent="-285750">
              <a:spcBef>
                <a:spcPts val="1500"/>
              </a:spcBef>
            </a:pPr>
            <a:endParaRPr lang="en-US" dirty="0"/>
          </a:p>
          <a:p>
            <a:pPr marL="285750" indent="-285750">
              <a:spcBef>
                <a:spcPts val="1500"/>
              </a:spcBef>
            </a:pPr>
            <a:endParaRPr lang="en-US" dirty="0"/>
          </a:p>
          <a:p>
            <a:pPr marL="285750" indent="-285750">
              <a:spcBef>
                <a:spcPts val="1500"/>
              </a:spcBef>
            </a:pPr>
            <a:endParaRPr lang="en-US" dirty="0"/>
          </a:p>
          <a:p>
            <a:pPr marL="285750" indent="-285750">
              <a:spcBef>
                <a:spcPts val="1500"/>
              </a:spcBef>
            </a:pPr>
            <a:endParaRPr lang="ru-RU" dirty="0"/>
          </a:p>
        </p:txBody>
      </p:sp>
      <p:pic>
        <p:nvPicPr>
          <p:cNvPr id="80" name="Google Shape;80;p15">
            <a:extLst>
              <a:ext uri="{FF2B5EF4-FFF2-40B4-BE49-F238E27FC236}">
                <a16:creationId xmlns:a16="http://schemas.microsoft.com/office/drawing/2014/main" id="{688625A3-6F9A-D84F-EDBF-D6E85B067349}"/>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553118-AF5D-105A-CD4A-83004B0AD429}"/>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5</a:t>
            </a:fld>
            <a:endParaRPr lang="uk-UA" dirty="0"/>
          </a:p>
        </p:txBody>
      </p:sp>
    </p:spTree>
    <p:extLst>
      <p:ext uri="{BB962C8B-B14F-4D97-AF65-F5344CB8AC3E}">
        <p14:creationId xmlns:p14="http://schemas.microsoft.com/office/powerpoint/2010/main" val="1256697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Постановка задачі</a:t>
            </a:r>
            <a:endParaRPr sz="3200" dirty="0"/>
          </a:p>
        </p:txBody>
      </p:sp>
      <p:sp>
        <p:nvSpPr>
          <p:cNvPr id="86" name="Google Shape;86;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1500"/>
              </a:spcBef>
              <a:spcAft>
                <a:spcPts val="0"/>
              </a:spcAft>
              <a:buNone/>
            </a:pPr>
            <a:r>
              <a:rPr lang="ru-RU" b="1" dirty="0">
                <a:solidFill>
                  <a:srgbClr val="0D0D0D"/>
                </a:solidFill>
                <a:highlight>
                  <a:srgbClr val="FFFFFF"/>
                </a:highlight>
              </a:rPr>
              <a:t>Мета </a:t>
            </a:r>
            <a:r>
              <a:rPr lang="ru-RU" b="1" dirty="0" err="1">
                <a:solidFill>
                  <a:srgbClr val="0D0D0D"/>
                </a:solidFill>
                <a:highlight>
                  <a:srgbClr val="FFFFFF"/>
                </a:highlight>
              </a:rPr>
              <a:t>роботи</a:t>
            </a:r>
            <a:r>
              <a:rPr lang="ru-RU" b="1" dirty="0">
                <a:solidFill>
                  <a:srgbClr val="0D0D0D"/>
                </a:solidFill>
                <a:highlight>
                  <a:srgbClr val="FFFFFF"/>
                </a:highlight>
              </a:rPr>
              <a:t>: </a:t>
            </a:r>
            <a:r>
              <a:rPr lang="ru-RU" dirty="0" err="1">
                <a:solidFill>
                  <a:srgbClr val="0D0D0D"/>
                </a:solidFill>
                <a:highlight>
                  <a:srgbClr val="FFFFFF"/>
                </a:highlight>
              </a:rPr>
              <a:t>дослідження</a:t>
            </a:r>
            <a:r>
              <a:rPr lang="ru-RU" dirty="0">
                <a:solidFill>
                  <a:srgbClr val="0D0D0D"/>
                </a:solidFill>
                <a:highlight>
                  <a:srgbClr val="FFFFFF"/>
                </a:highlight>
              </a:rPr>
              <a:t> </a:t>
            </a:r>
            <a:r>
              <a:rPr lang="ru-RU" dirty="0" err="1">
                <a:solidFill>
                  <a:srgbClr val="0D0D0D"/>
                </a:solidFill>
                <a:highlight>
                  <a:srgbClr val="FFFFFF"/>
                </a:highlight>
              </a:rPr>
              <a:t>методів</a:t>
            </a:r>
            <a:r>
              <a:rPr lang="ru-RU" dirty="0">
                <a:solidFill>
                  <a:srgbClr val="0D0D0D"/>
                </a:solidFill>
                <a:highlight>
                  <a:srgbClr val="FFFFFF"/>
                </a:highlight>
              </a:rPr>
              <a:t> </a:t>
            </a:r>
            <a:r>
              <a:rPr lang="ru-RU" dirty="0" err="1">
                <a:solidFill>
                  <a:srgbClr val="0D0D0D"/>
                </a:solidFill>
                <a:highlight>
                  <a:srgbClr val="FFFFFF"/>
                </a:highlight>
              </a:rPr>
              <a:t>виявлення</a:t>
            </a:r>
            <a:r>
              <a:rPr lang="ru-RU" dirty="0">
                <a:solidFill>
                  <a:srgbClr val="0D0D0D"/>
                </a:solidFill>
                <a:highlight>
                  <a:srgbClr val="FFFFFF"/>
                </a:highlight>
              </a:rPr>
              <a:t> </a:t>
            </a:r>
            <a:r>
              <a:rPr lang="ru-RU" dirty="0" err="1">
                <a:solidFill>
                  <a:srgbClr val="0D0D0D"/>
                </a:solidFill>
                <a:highlight>
                  <a:srgbClr val="FFFFFF"/>
                </a:highlight>
              </a:rPr>
              <a:t>подібності</a:t>
            </a:r>
            <a:r>
              <a:rPr lang="ru-RU" dirty="0">
                <a:solidFill>
                  <a:srgbClr val="0D0D0D"/>
                </a:solidFill>
                <a:highlight>
                  <a:srgbClr val="FFFFFF"/>
                </a:highlight>
              </a:rPr>
              <a:t> </a:t>
            </a:r>
            <a:r>
              <a:rPr lang="ru-RU" dirty="0" err="1">
                <a:solidFill>
                  <a:srgbClr val="0D0D0D"/>
                </a:solidFill>
                <a:highlight>
                  <a:srgbClr val="FFFFFF"/>
                </a:highlight>
              </a:rPr>
              <a:t>між</a:t>
            </a:r>
            <a:r>
              <a:rPr lang="ru-RU" dirty="0">
                <a:solidFill>
                  <a:srgbClr val="0D0D0D"/>
                </a:solidFill>
                <a:highlight>
                  <a:srgbClr val="FFFFFF"/>
                </a:highlight>
              </a:rPr>
              <a:t> парафразами для </a:t>
            </a:r>
            <a:r>
              <a:rPr lang="ru-RU" dirty="0" err="1">
                <a:solidFill>
                  <a:srgbClr val="0D0D0D"/>
                </a:solidFill>
                <a:highlight>
                  <a:srgbClr val="FFFFFF"/>
                </a:highlight>
              </a:rPr>
              <a:t>української</a:t>
            </a:r>
            <a:r>
              <a:rPr lang="ru-RU" dirty="0">
                <a:solidFill>
                  <a:srgbClr val="0D0D0D"/>
                </a:solidFill>
                <a:highlight>
                  <a:srgbClr val="FFFFFF"/>
                </a:highlight>
              </a:rPr>
              <a:t> та </a:t>
            </a:r>
            <a:r>
              <a:rPr lang="ru-RU" dirty="0" err="1">
                <a:solidFill>
                  <a:srgbClr val="0D0D0D"/>
                </a:solidFill>
                <a:highlight>
                  <a:srgbClr val="FFFFFF"/>
                </a:highlight>
              </a:rPr>
              <a:t>англійської</a:t>
            </a:r>
            <a:r>
              <a:rPr lang="ru-RU" dirty="0">
                <a:solidFill>
                  <a:srgbClr val="0D0D0D"/>
                </a:solidFill>
                <a:highlight>
                  <a:srgbClr val="FFFFFF"/>
                </a:highlight>
              </a:rPr>
              <a:t> мов як основа </a:t>
            </a:r>
            <a:r>
              <a:rPr lang="ru-RU" dirty="0" err="1">
                <a:solidFill>
                  <a:srgbClr val="0D0D0D"/>
                </a:solidFill>
                <a:highlight>
                  <a:srgbClr val="FFFFFF"/>
                </a:highlight>
              </a:rPr>
              <a:t>системи</a:t>
            </a:r>
            <a:r>
              <a:rPr lang="ru-RU" dirty="0">
                <a:solidFill>
                  <a:srgbClr val="0D0D0D"/>
                </a:solidFill>
                <a:highlight>
                  <a:srgbClr val="FFFFFF"/>
                </a:highlight>
              </a:rPr>
              <a:t> </a:t>
            </a:r>
            <a:r>
              <a:rPr lang="ru-RU" dirty="0" err="1">
                <a:solidFill>
                  <a:srgbClr val="0D0D0D"/>
                </a:solidFill>
                <a:highlight>
                  <a:srgbClr val="FFFFFF"/>
                </a:highlight>
              </a:rPr>
              <a:t>виявлення</a:t>
            </a:r>
            <a:r>
              <a:rPr lang="ru-RU" dirty="0">
                <a:solidFill>
                  <a:srgbClr val="0D0D0D"/>
                </a:solidFill>
                <a:highlight>
                  <a:srgbClr val="FFFFFF"/>
                </a:highlight>
              </a:rPr>
              <a:t> </a:t>
            </a:r>
            <a:r>
              <a:rPr lang="ru-RU" dirty="0" err="1">
                <a:solidFill>
                  <a:srgbClr val="0D0D0D"/>
                </a:solidFill>
                <a:highlight>
                  <a:srgbClr val="FFFFFF"/>
                </a:highlight>
              </a:rPr>
              <a:t>плагіату</a:t>
            </a:r>
            <a:r>
              <a:rPr lang="ru-RU" dirty="0">
                <a:solidFill>
                  <a:srgbClr val="0D0D0D"/>
                </a:solidFill>
                <a:highlight>
                  <a:srgbClr val="FFFFFF"/>
                </a:highlight>
              </a:rPr>
              <a:t> у </a:t>
            </a:r>
            <a:r>
              <a:rPr lang="ru-RU" dirty="0" err="1">
                <a:solidFill>
                  <a:srgbClr val="0D0D0D"/>
                </a:solidFill>
                <a:highlight>
                  <a:srgbClr val="FFFFFF"/>
                </a:highlight>
              </a:rPr>
              <a:t>текстових</a:t>
            </a:r>
            <a:r>
              <a:rPr lang="ru-RU" dirty="0">
                <a:solidFill>
                  <a:srgbClr val="0D0D0D"/>
                </a:solidFill>
                <a:highlight>
                  <a:srgbClr val="FFFFFF"/>
                </a:highlight>
              </a:rPr>
              <a:t> </a:t>
            </a:r>
            <a:r>
              <a:rPr lang="ru-RU" dirty="0" err="1">
                <a:solidFill>
                  <a:srgbClr val="0D0D0D"/>
                </a:solidFill>
                <a:highlight>
                  <a:srgbClr val="FFFFFF"/>
                </a:highlight>
              </a:rPr>
              <a:t>даних</a:t>
            </a:r>
            <a:r>
              <a:rPr lang="ru-RU" dirty="0">
                <a:solidFill>
                  <a:srgbClr val="0D0D0D"/>
                </a:solidFill>
                <a:highlight>
                  <a:srgbClr val="FFFFFF"/>
                </a:highlight>
              </a:rPr>
              <a:t>.</a:t>
            </a:r>
          </a:p>
          <a:p>
            <a:pPr marL="0" lvl="0" indent="0" algn="l" rtl="0">
              <a:spcBef>
                <a:spcPts val="1500"/>
              </a:spcBef>
              <a:spcAft>
                <a:spcPts val="0"/>
              </a:spcAft>
              <a:buNone/>
            </a:pPr>
            <a:r>
              <a:rPr lang="ru-RU" dirty="0" err="1">
                <a:latin typeface="Economica" panose="020B0604020202020204" charset="0"/>
              </a:rPr>
              <a:t>Завдання</a:t>
            </a:r>
            <a:r>
              <a:rPr lang="ru-RU" dirty="0">
                <a:latin typeface="Economica" panose="020B0604020202020204" charset="0"/>
              </a:rPr>
              <a:t>:</a:t>
            </a:r>
          </a:p>
          <a:p>
            <a:pPr marL="285750" indent="-285750"/>
            <a:r>
              <a:rPr lang="ru-RU" dirty="0" err="1">
                <a:latin typeface="Economica" panose="020B0604020202020204" charset="0"/>
              </a:rPr>
              <a:t>формування</a:t>
            </a:r>
            <a:r>
              <a:rPr lang="ru-RU" dirty="0">
                <a:latin typeface="Economica" panose="020B0604020202020204" charset="0"/>
              </a:rPr>
              <a:t> датасету,</a:t>
            </a:r>
          </a:p>
          <a:p>
            <a:pPr marL="285750" indent="-285750"/>
            <a:r>
              <a:rPr lang="ru-RU" dirty="0" err="1">
                <a:latin typeface="Economica" panose="020B0604020202020204" charset="0"/>
              </a:rPr>
              <a:t>експериментальне</a:t>
            </a:r>
            <a:r>
              <a:rPr lang="ru-RU" dirty="0">
                <a:latin typeface="Economica" panose="020B0604020202020204" charset="0"/>
              </a:rPr>
              <a:t> </a:t>
            </a:r>
            <a:r>
              <a:rPr lang="ru-RU" dirty="0" err="1">
                <a:latin typeface="Economica" panose="020B0604020202020204" charset="0"/>
              </a:rPr>
              <a:t>порівняння</a:t>
            </a:r>
            <a:r>
              <a:rPr lang="ru-RU" dirty="0">
                <a:latin typeface="Economica" panose="020B0604020202020204" charset="0"/>
              </a:rPr>
              <a:t> </a:t>
            </a:r>
            <a:r>
              <a:rPr lang="ru-RU" dirty="0" err="1">
                <a:latin typeface="Economica" panose="020B0604020202020204" charset="0"/>
              </a:rPr>
              <a:t>методів</a:t>
            </a:r>
            <a:r>
              <a:rPr lang="ru-RU" dirty="0">
                <a:latin typeface="Economica" panose="020B0604020202020204" charset="0"/>
              </a:rPr>
              <a:t>, </a:t>
            </a:r>
          </a:p>
          <a:p>
            <a:pPr marL="285750" indent="-285750"/>
            <a:r>
              <a:rPr lang="ru-RU" dirty="0" err="1">
                <a:latin typeface="Economica" panose="020B0604020202020204" charset="0"/>
              </a:rPr>
              <a:t>аналіз</a:t>
            </a:r>
            <a:r>
              <a:rPr lang="ru-RU" dirty="0">
                <a:latin typeface="Economica" panose="020B0604020202020204" charset="0"/>
              </a:rPr>
              <a:t> </a:t>
            </a:r>
            <a:r>
              <a:rPr lang="ru-RU" dirty="0" err="1">
                <a:latin typeface="Economica" panose="020B0604020202020204" charset="0"/>
              </a:rPr>
              <a:t>результатів</a:t>
            </a:r>
            <a:endParaRPr lang="ru-RU" dirty="0">
              <a:latin typeface="Economica" panose="020B0604020202020204" charset="0"/>
            </a:endParaRPr>
          </a:p>
          <a:p>
            <a:pPr marL="285750" indent="-285750"/>
            <a:r>
              <a:rPr lang="ru-RU" dirty="0" err="1">
                <a:latin typeface="Economica" panose="020B0604020202020204" charset="0"/>
              </a:rPr>
              <a:t>розробка</a:t>
            </a:r>
            <a:r>
              <a:rPr lang="ru-RU" dirty="0">
                <a:latin typeface="Economica" panose="020B0604020202020204" charset="0"/>
              </a:rPr>
              <a:t> прототипу</a:t>
            </a:r>
          </a:p>
          <a:p>
            <a:pPr marL="0" lvl="0" indent="0" algn="l" rtl="0">
              <a:spcBef>
                <a:spcPts val="1500"/>
              </a:spcBef>
              <a:spcAft>
                <a:spcPts val="0"/>
              </a:spcAft>
              <a:buNone/>
            </a:pPr>
            <a:endParaRPr dirty="0">
              <a:latin typeface="Economica" panose="020B0604020202020204" charset="0"/>
            </a:endParaRPr>
          </a:p>
        </p:txBody>
      </p:sp>
      <p:pic>
        <p:nvPicPr>
          <p:cNvPr id="87" name="Google Shape;87;p16"/>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23D9805-068E-FE7E-BC9A-0C410D68B73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6</a:t>
            </a:fld>
            <a:endParaRPr lang="uk-UA"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148309"/>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Методологія </a:t>
            </a:r>
            <a:endParaRPr sz="3200" dirty="0"/>
          </a:p>
        </p:txBody>
      </p:sp>
      <p:sp>
        <p:nvSpPr>
          <p:cNvPr id="93" name="Google Shape;93;p1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285750" indent="-285750">
              <a:spcBef>
                <a:spcPts val="1500"/>
              </a:spcBef>
            </a:pPr>
            <a:r>
              <a:rPr lang="uk-UA" dirty="0">
                <a:solidFill>
                  <a:srgbClr val="0D0D0D"/>
                </a:solidFill>
                <a:highlight>
                  <a:srgbClr val="FFFFFF"/>
                </a:highlight>
              </a:rPr>
              <a:t>Шість методів для порівняння: 2 лексичні + 4 на базі </a:t>
            </a:r>
            <a:r>
              <a:rPr lang="uk-UA" dirty="0" err="1">
                <a:solidFill>
                  <a:srgbClr val="0D0D0D"/>
                </a:solidFill>
                <a:highlight>
                  <a:srgbClr val="FFFFFF"/>
                </a:highlight>
              </a:rPr>
              <a:t>трансформерів</a:t>
            </a:r>
            <a:endParaRPr lang="uk-UA" dirty="0">
              <a:solidFill>
                <a:srgbClr val="0D0D0D"/>
              </a:solidFill>
              <a:highlight>
                <a:srgbClr val="FFFFFF"/>
              </a:highlight>
            </a:endParaRPr>
          </a:p>
          <a:p>
            <a:pPr marL="285750" indent="-285750">
              <a:spcBef>
                <a:spcPts val="1500"/>
              </a:spcBef>
            </a:pPr>
            <a:r>
              <a:rPr lang="uk-UA" dirty="0">
                <a:solidFill>
                  <a:srgbClr val="0D0D0D"/>
                </a:solidFill>
                <a:highlight>
                  <a:srgbClr val="FFFFFF"/>
                </a:highlight>
              </a:rPr>
              <a:t>Три набори даних: український (власний 20 тис.</a:t>
            </a:r>
            <a:r>
              <a:rPr lang="en-US" dirty="0">
                <a:solidFill>
                  <a:srgbClr val="0D0D0D"/>
                </a:solidFill>
                <a:highlight>
                  <a:srgbClr val="FFFFFF"/>
                </a:highlight>
              </a:rPr>
              <a:t> </a:t>
            </a:r>
            <a:r>
              <a:rPr lang="uk-UA" dirty="0">
                <a:solidFill>
                  <a:srgbClr val="0D0D0D"/>
                </a:solidFill>
                <a:highlight>
                  <a:srgbClr val="FFFFFF"/>
                </a:highlight>
              </a:rPr>
              <a:t>пар), </a:t>
            </a:r>
            <a:r>
              <a:rPr lang="en-US" dirty="0">
                <a:solidFill>
                  <a:srgbClr val="0D0D0D"/>
                </a:solidFill>
                <a:highlight>
                  <a:srgbClr val="FFFFFF"/>
                </a:highlight>
              </a:rPr>
              <a:t>QQP, PAWS-Wiki</a:t>
            </a:r>
            <a:endParaRPr lang="uk-UA" dirty="0">
              <a:solidFill>
                <a:srgbClr val="0D0D0D"/>
              </a:solidFill>
              <a:highlight>
                <a:srgbClr val="FFFFFF"/>
              </a:highlight>
            </a:endParaRPr>
          </a:p>
          <a:p>
            <a:pPr marL="285750" indent="-285750">
              <a:spcBef>
                <a:spcPts val="1500"/>
              </a:spcBef>
            </a:pPr>
            <a:r>
              <a:rPr lang="uk-UA" dirty="0">
                <a:solidFill>
                  <a:srgbClr val="0D0D0D"/>
                </a:solidFill>
                <a:highlight>
                  <a:srgbClr val="FFFFFF"/>
                </a:highlight>
              </a:rPr>
              <a:t>Метрики: </a:t>
            </a:r>
            <a:r>
              <a:rPr lang="en-US" dirty="0">
                <a:solidFill>
                  <a:srgbClr val="0D0D0D"/>
                </a:solidFill>
                <a:highlight>
                  <a:srgbClr val="FFFFFF"/>
                </a:highlight>
              </a:rPr>
              <a:t>Precision, Recall, F</a:t>
            </a:r>
            <a:r>
              <a:rPr lang="uk-UA" dirty="0">
                <a:solidFill>
                  <a:srgbClr val="0D0D0D"/>
                </a:solidFill>
                <a:highlight>
                  <a:srgbClr val="FFFFFF"/>
                </a:highlight>
              </a:rPr>
              <a:t>1-міра</a:t>
            </a:r>
            <a:r>
              <a:rPr lang="en-US" dirty="0">
                <a:solidFill>
                  <a:srgbClr val="0D0D0D"/>
                </a:solidFill>
                <a:highlight>
                  <a:srgbClr val="FFFFFF"/>
                </a:highlight>
              </a:rPr>
              <a:t>, </a:t>
            </a:r>
            <a:r>
              <a:rPr lang="uk-UA" dirty="0">
                <a:solidFill>
                  <a:srgbClr val="0D0D0D"/>
                </a:solidFill>
                <a:highlight>
                  <a:srgbClr val="FFFFFF"/>
                </a:highlight>
              </a:rPr>
              <a:t>медіанний час</a:t>
            </a:r>
          </a:p>
          <a:p>
            <a:pPr marL="285750" indent="-285750">
              <a:spcBef>
                <a:spcPts val="1500"/>
              </a:spcBef>
            </a:pPr>
            <a:r>
              <a:rPr lang="uk-UA" dirty="0" err="1">
                <a:solidFill>
                  <a:srgbClr val="0D0D0D"/>
                </a:solidFill>
                <a:highlight>
                  <a:srgbClr val="FFFFFF"/>
                </a:highlight>
              </a:rPr>
              <a:t>Бутстреп</a:t>
            </a:r>
            <a:r>
              <a:rPr lang="en-US" dirty="0">
                <a:solidFill>
                  <a:srgbClr val="0D0D0D"/>
                </a:solidFill>
                <a:highlight>
                  <a:srgbClr val="FFFFFF"/>
                </a:highlight>
              </a:rPr>
              <a:t>-</a:t>
            </a:r>
            <a:r>
              <a:rPr lang="uk-UA" dirty="0">
                <a:solidFill>
                  <a:srgbClr val="0D0D0D"/>
                </a:solidFill>
                <a:highlight>
                  <a:srgbClr val="FFFFFF"/>
                </a:highlight>
              </a:rPr>
              <a:t>тестування (</a:t>
            </a:r>
            <a:r>
              <a:rPr lang="en-US" dirty="0">
                <a:solidFill>
                  <a:srgbClr val="0D0D0D"/>
                </a:solidFill>
                <a:highlight>
                  <a:srgbClr val="FFFFFF"/>
                </a:highlight>
              </a:rPr>
              <a:t>Bootstrap</a:t>
            </a:r>
            <a:r>
              <a:rPr lang="uk-UA" dirty="0">
                <a:solidFill>
                  <a:srgbClr val="0D0D0D"/>
                </a:solidFill>
                <a:highlight>
                  <a:srgbClr val="FFFFFF"/>
                </a:highlight>
              </a:rPr>
              <a:t>) з 2000 ітерацій для статистичної значущості</a:t>
            </a:r>
            <a:endParaRPr dirty="0">
              <a:latin typeface="Economica" panose="020B0604020202020204" charset="0"/>
            </a:endParaRPr>
          </a:p>
        </p:txBody>
      </p:sp>
      <p:pic>
        <p:nvPicPr>
          <p:cNvPr id="94" name="Google Shape;94;p17"/>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343E912-C721-1128-5F72-D9BB9BCF5CCA}"/>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7</a:t>
            </a:fld>
            <a:endParaRPr lang="uk-UA"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2054" name="Picture 6" descr="GitHub - huggingface/transformers: 🤗 Transformers: the model-definition  framework for state-of-the-art machine learning models in text, vision,  audio, and multimodal models, for both inference and training. · GitHub">
            <a:extLst>
              <a:ext uri="{FF2B5EF4-FFF2-40B4-BE49-F238E27FC236}">
                <a16:creationId xmlns:a16="http://schemas.microsoft.com/office/drawing/2014/main" id="{DA193551-D26E-3348-899D-170ECC1B0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974" y="1270711"/>
            <a:ext cx="3458026" cy="1481068"/>
          </a:xfrm>
          <a:prstGeom prst="rect">
            <a:avLst/>
          </a:prstGeom>
          <a:noFill/>
          <a:extLst>
            <a:ext uri="{909E8E84-426E-40DD-AFC4-6F175D3DCCD1}">
              <a14:hiddenFill xmlns:a14="http://schemas.microsoft.com/office/drawing/2010/main">
                <a:solidFill>
                  <a:srgbClr val="FFFFFF"/>
                </a:solidFill>
              </a14:hiddenFill>
            </a:ext>
          </a:extLst>
        </p:spPr>
      </p:pic>
      <p:sp>
        <p:nvSpPr>
          <p:cNvPr id="106" name="Google Shape;106;p19"/>
          <p:cNvSpPr txBox="1">
            <a:spLocks noGrp="1"/>
          </p:cNvSpPr>
          <p:nvPr>
            <p:ph type="title"/>
          </p:nvPr>
        </p:nvSpPr>
        <p:spPr>
          <a:xfrm>
            <a:off x="311700" y="31240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 sz="3200" dirty="0"/>
              <a:t>Використанні </a:t>
            </a:r>
            <a:r>
              <a:rPr lang="uk-UA" sz="3200" dirty="0"/>
              <a:t>технології</a:t>
            </a:r>
            <a:endParaRPr sz="3200" dirty="0"/>
          </a:p>
        </p:txBody>
      </p:sp>
      <p:sp>
        <p:nvSpPr>
          <p:cNvPr id="107" name="Google Shape;107;p19"/>
          <p:cNvSpPr txBox="1">
            <a:spLocks noGrp="1"/>
          </p:cNvSpPr>
          <p:nvPr>
            <p:ph type="body" idx="1"/>
          </p:nvPr>
        </p:nvSpPr>
        <p:spPr>
          <a:xfrm>
            <a:off x="311700" y="1477100"/>
            <a:ext cx="5704787" cy="3354000"/>
          </a:xfrm>
          <a:prstGeom prst="rect">
            <a:avLst/>
          </a:prstGeom>
        </p:spPr>
        <p:txBody>
          <a:bodyPr spcFirstLastPara="1" wrap="square" lIns="91425" tIns="91425" rIns="91425" bIns="91425" anchor="t" anchorCtr="0">
            <a:normAutofit/>
          </a:bodyPr>
          <a:lstStyle/>
          <a:p>
            <a:pPr marL="285750" indent="-285750">
              <a:spcBef>
                <a:spcPts val="1500"/>
              </a:spcBef>
            </a:pPr>
            <a:r>
              <a:rPr lang="en-US" dirty="0">
                <a:solidFill>
                  <a:srgbClr val="0D0D0D"/>
                </a:solidFill>
                <a:highlight>
                  <a:srgbClr val="FFFFFF"/>
                </a:highlight>
              </a:rPr>
              <a:t>Python</a:t>
            </a:r>
            <a:r>
              <a:rPr lang="uk-UA" dirty="0">
                <a:solidFill>
                  <a:srgbClr val="0D0D0D"/>
                </a:solidFill>
                <a:highlight>
                  <a:srgbClr val="FFFFFF"/>
                </a:highlight>
              </a:rPr>
              <a:t> (</a:t>
            </a:r>
            <a:r>
              <a:rPr lang="en-US" dirty="0" err="1">
                <a:solidFill>
                  <a:srgbClr val="0D0D0D"/>
                </a:solidFill>
                <a:highlight>
                  <a:srgbClr val="FFFFFF"/>
                </a:highlight>
              </a:rPr>
              <a:t>PyTorch</a:t>
            </a:r>
            <a:r>
              <a:rPr lang="en-US" dirty="0">
                <a:solidFill>
                  <a:srgbClr val="0D0D0D"/>
                </a:solidFill>
                <a:highlight>
                  <a:srgbClr val="FFFFFF"/>
                </a:highlight>
              </a:rPr>
              <a:t>, sentence-transformers, transformers, FAISS, Stanza</a:t>
            </a:r>
            <a:r>
              <a:rPr lang="uk-UA" dirty="0">
                <a:solidFill>
                  <a:srgbClr val="0D0D0D"/>
                </a:solidFill>
                <a:highlight>
                  <a:srgbClr val="FFFFFF"/>
                </a:highlight>
              </a:rPr>
              <a:t>)</a:t>
            </a:r>
          </a:p>
          <a:p>
            <a:pPr marL="285750" indent="-285750">
              <a:spcBef>
                <a:spcPts val="1500"/>
              </a:spcBef>
            </a:pPr>
            <a:r>
              <a:rPr lang="uk-UA" dirty="0">
                <a:solidFill>
                  <a:srgbClr val="0D0D0D"/>
                </a:solidFill>
                <a:highlight>
                  <a:srgbClr val="FFFFFF"/>
                </a:highlight>
              </a:rPr>
              <a:t>Моделі: </a:t>
            </a:r>
            <a:r>
              <a:rPr lang="en-US" dirty="0">
                <a:solidFill>
                  <a:srgbClr val="0D0D0D"/>
                </a:solidFill>
                <a:highlight>
                  <a:srgbClr val="FFFFFF"/>
                </a:highlight>
              </a:rPr>
              <a:t>paraphrase-multilingual-MiniLM-L12-v2 (</a:t>
            </a:r>
            <a:r>
              <a:rPr lang="uk-UA" dirty="0" err="1">
                <a:solidFill>
                  <a:srgbClr val="0D0D0D"/>
                </a:solidFill>
                <a:highlight>
                  <a:srgbClr val="FFFFFF"/>
                </a:highlight>
              </a:rPr>
              <a:t>бі-енкодер</a:t>
            </a:r>
            <a:r>
              <a:rPr lang="uk-UA" dirty="0">
                <a:solidFill>
                  <a:srgbClr val="0D0D0D"/>
                </a:solidFill>
                <a:highlight>
                  <a:srgbClr val="FFFFFF"/>
                </a:highlight>
              </a:rPr>
              <a:t>), </a:t>
            </a:r>
            <a:r>
              <a:rPr lang="en-US" dirty="0">
                <a:solidFill>
                  <a:srgbClr val="0D0D0D"/>
                </a:solidFill>
                <a:highlight>
                  <a:srgbClr val="FFFFFF"/>
                </a:highlight>
              </a:rPr>
              <a:t>bge-reranker-v2-m3 (</a:t>
            </a:r>
            <a:r>
              <a:rPr lang="uk-UA" dirty="0">
                <a:solidFill>
                  <a:srgbClr val="0D0D0D"/>
                </a:solidFill>
                <a:highlight>
                  <a:srgbClr val="FFFFFF"/>
                </a:highlight>
              </a:rPr>
              <a:t>крос-</a:t>
            </a:r>
            <a:r>
              <a:rPr lang="uk-UA" dirty="0" err="1">
                <a:solidFill>
                  <a:srgbClr val="0D0D0D"/>
                </a:solidFill>
                <a:highlight>
                  <a:srgbClr val="FFFFFF"/>
                </a:highlight>
              </a:rPr>
              <a:t>енкодер</a:t>
            </a:r>
            <a:r>
              <a:rPr lang="uk-UA" dirty="0">
                <a:solidFill>
                  <a:srgbClr val="0D0D0D"/>
                </a:solidFill>
                <a:highlight>
                  <a:srgbClr val="FFFFFF"/>
                </a:highlight>
              </a:rPr>
              <a:t> 0-</a:t>
            </a:r>
            <a:r>
              <a:rPr lang="en-US" dirty="0">
                <a:solidFill>
                  <a:srgbClr val="0D0D0D"/>
                </a:solidFill>
                <a:highlight>
                  <a:srgbClr val="FFFFFF"/>
                </a:highlight>
              </a:rPr>
              <a:t>shot), MiniLM-L12-H384 (</a:t>
            </a:r>
            <a:r>
              <a:rPr lang="uk-UA" dirty="0">
                <a:solidFill>
                  <a:srgbClr val="0D0D0D"/>
                </a:solidFill>
                <a:highlight>
                  <a:srgbClr val="FFFFFF"/>
                </a:highlight>
              </a:rPr>
              <a:t>крос-</a:t>
            </a:r>
            <a:r>
              <a:rPr lang="uk-UA" dirty="0" err="1">
                <a:solidFill>
                  <a:srgbClr val="0D0D0D"/>
                </a:solidFill>
                <a:highlight>
                  <a:srgbClr val="FFFFFF"/>
                </a:highlight>
              </a:rPr>
              <a:t>енкодер</a:t>
            </a:r>
            <a:r>
              <a:rPr lang="uk-UA" dirty="0">
                <a:solidFill>
                  <a:srgbClr val="0D0D0D"/>
                </a:solidFill>
                <a:highlight>
                  <a:srgbClr val="FFFFFF"/>
                </a:highlight>
              </a:rPr>
              <a:t> </a:t>
            </a:r>
            <a:r>
              <a:rPr lang="en-US" dirty="0">
                <a:solidFill>
                  <a:srgbClr val="0D0D0D"/>
                </a:solidFill>
                <a:highlight>
                  <a:srgbClr val="FFFFFF"/>
                </a:highlight>
              </a:rPr>
              <a:t>FT)</a:t>
            </a:r>
            <a:endParaRPr lang="uk-UA" dirty="0">
              <a:solidFill>
                <a:srgbClr val="0D0D0D"/>
              </a:solidFill>
              <a:highlight>
                <a:srgbClr val="FFFFFF"/>
              </a:highlight>
            </a:endParaRPr>
          </a:p>
          <a:p>
            <a:pPr marL="285750" indent="-285750">
              <a:spcBef>
                <a:spcPts val="1500"/>
              </a:spcBef>
            </a:pPr>
            <a:r>
              <a:rPr lang="uk-UA" dirty="0">
                <a:solidFill>
                  <a:srgbClr val="0D0D0D"/>
                </a:solidFill>
                <a:highlight>
                  <a:srgbClr val="FFFFFF"/>
                </a:highlight>
              </a:rPr>
              <a:t>Середовище: </a:t>
            </a:r>
            <a:r>
              <a:rPr lang="en-US" dirty="0">
                <a:solidFill>
                  <a:srgbClr val="0D0D0D"/>
                </a:solidFill>
                <a:highlight>
                  <a:srgbClr val="FFFFFF"/>
                </a:highlight>
              </a:rPr>
              <a:t>Google </a:t>
            </a:r>
            <a:r>
              <a:rPr lang="en-US" dirty="0" err="1">
                <a:solidFill>
                  <a:srgbClr val="0D0D0D"/>
                </a:solidFill>
                <a:highlight>
                  <a:srgbClr val="FFFFFF"/>
                </a:highlight>
              </a:rPr>
              <a:t>Colab</a:t>
            </a:r>
            <a:r>
              <a:rPr lang="en-US" dirty="0">
                <a:solidFill>
                  <a:srgbClr val="0D0D0D"/>
                </a:solidFill>
                <a:highlight>
                  <a:srgbClr val="FFFFFF"/>
                </a:highlight>
              </a:rPr>
              <a:t> </a:t>
            </a:r>
            <a:r>
              <a:rPr lang="uk-UA" dirty="0">
                <a:solidFill>
                  <a:srgbClr val="0D0D0D"/>
                </a:solidFill>
                <a:highlight>
                  <a:srgbClr val="FFFFFF"/>
                </a:highlight>
              </a:rPr>
              <a:t>з </a:t>
            </a:r>
            <a:r>
              <a:rPr lang="en-US" dirty="0">
                <a:solidFill>
                  <a:srgbClr val="0D0D0D"/>
                </a:solidFill>
                <a:highlight>
                  <a:srgbClr val="FFFFFF"/>
                </a:highlight>
              </a:rPr>
              <a:t>GPU NVIDIA T4 (15 </a:t>
            </a:r>
            <a:r>
              <a:rPr lang="uk-UA" dirty="0">
                <a:solidFill>
                  <a:srgbClr val="0D0D0D"/>
                </a:solidFill>
                <a:highlight>
                  <a:srgbClr val="FFFFFF"/>
                </a:highlight>
              </a:rPr>
              <a:t>ГБ </a:t>
            </a:r>
            <a:r>
              <a:rPr lang="en-US" dirty="0">
                <a:solidFill>
                  <a:srgbClr val="0D0D0D"/>
                </a:solidFill>
                <a:highlight>
                  <a:srgbClr val="FFFFFF"/>
                </a:highlight>
              </a:rPr>
              <a:t>VRAM)</a:t>
            </a:r>
            <a:endParaRPr dirty="0">
              <a:latin typeface="Economica" panose="020B0604020202020204" charset="0"/>
            </a:endParaRPr>
          </a:p>
        </p:txBody>
      </p:sp>
      <p:pic>
        <p:nvPicPr>
          <p:cNvPr id="108" name="Google Shape;108;p19"/>
          <p:cNvPicPr preferRelativeResize="0"/>
          <p:nvPr/>
        </p:nvPicPr>
        <p:blipFill>
          <a:blip r:embed="rId4">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26AFC1-F793-030A-440F-FC50C3AEF71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8</a:t>
            </a:fld>
            <a:endParaRPr lang="uk-UA" dirty="0"/>
          </a:p>
        </p:txBody>
      </p:sp>
      <p:pic>
        <p:nvPicPr>
          <p:cNvPr id="2050" name="Picture 2" descr="Python (programming language) - Wikipedia">
            <a:extLst>
              <a:ext uri="{FF2B5EF4-FFF2-40B4-BE49-F238E27FC236}">
                <a16:creationId xmlns:a16="http://schemas.microsoft.com/office/drawing/2014/main" id="{781B58AF-85EF-677D-81A5-22D2D5EA1A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2661" y="1405635"/>
            <a:ext cx="665752" cy="66575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yTorch – PyTorch">
            <a:extLst>
              <a:ext uri="{FF2B5EF4-FFF2-40B4-BE49-F238E27FC236}">
                <a16:creationId xmlns:a16="http://schemas.microsoft.com/office/drawing/2014/main" id="{306EF029-CE5C-7707-A5C9-62CEFA37BC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8413" y="676317"/>
            <a:ext cx="999206" cy="111179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Overview - Stanza">
            <a:extLst>
              <a:ext uri="{FF2B5EF4-FFF2-40B4-BE49-F238E27FC236}">
                <a16:creationId xmlns:a16="http://schemas.microsoft.com/office/drawing/2014/main" id="{F6907AFD-A7AE-6FA3-7D32-FCEC93E687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2678" y="2264243"/>
            <a:ext cx="1828800" cy="45212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Google Colab - Wikipedia">
            <a:extLst>
              <a:ext uri="{FF2B5EF4-FFF2-40B4-BE49-F238E27FC236}">
                <a16:creationId xmlns:a16="http://schemas.microsoft.com/office/drawing/2014/main" id="{9217F538-E9ED-EB61-C251-62D52883B7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39409" y="3045069"/>
            <a:ext cx="838830" cy="4800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268925" y="349659"/>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 sz="3200" dirty="0"/>
              <a:t>Архітектура система</a:t>
            </a:r>
            <a:endParaRPr sz="3200" dirty="0"/>
          </a:p>
        </p:txBody>
      </p:sp>
      <p:pic>
        <p:nvPicPr>
          <p:cNvPr id="101" name="Google Shape;101;p18"/>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A55726-B906-08A2-C43F-1B00FCF5F35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9</a:t>
            </a:fld>
            <a:endParaRPr lang="uk-UA" dirty="0"/>
          </a:p>
        </p:txBody>
      </p:sp>
      <p:pic>
        <p:nvPicPr>
          <p:cNvPr id="6" name="Рисунок 5">
            <a:extLst>
              <a:ext uri="{FF2B5EF4-FFF2-40B4-BE49-F238E27FC236}">
                <a16:creationId xmlns:a16="http://schemas.microsoft.com/office/drawing/2014/main" id="{7B3AA339-8835-9D87-2610-7AF53401080C}"/>
              </a:ext>
            </a:extLst>
          </p:cNvPr>
          <p:cNvPicPr>
            <a:picLocks noChangeAspect="1"/>
          </p:cNvPicPr>
          <p:nvPr/>
        </p:nvPicPr>
        <p:blipFill>
          <a:blip r:embed="rId4"/>
          <a:stretch>
            <a:fillRect/>
          </a:stretch>
        </p:blipFill>
        <p:spPr>
          <a:xfrm>
            <a:off x="1659644" y="1276804"/>
            <a:ext cx="5824712" cy="2986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92038"/>
            <a:ext cx="8520600" cy="8313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uk-UA" sz="3200" dirty="0"/>
              <a:t>Формування набору даних українською мовою</a:t>
            </a:r>
            <a:endParaRPr sz="3200" dirty="0"/>
          </a:p>
        </p:txBody>
      </p:sp>
      <p:pic>
        <p:nvPicPr>
          <p:cNvPr id="115" name="Google Shape;115;p20"/>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E8624834-013E-7249-F488-C816A0DA935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10</a:t>
            </a:fld>
            <a:endParaRPr lang="uk-UA" dirty="0"/>
          </a:p>
        </p:txBody>
      </p:sp>
      <p:pic>
        <p:nvPicPr>
          <p:cNvPr id="6" name="Рисунок 5">
            <a:extLst>
              <a:ext uri="{FF2B5EF4-FFF2-40B4-BE49-F238E27FC236}">
                <a16:creationId xmlns:a16="http://schemas.microsoft.com/office/drawing/2014/main" id="{6B92C7D1-ABF0-6A24-42B2-315D6BA82D11}"/>
              </a:ext>
            </a:extLst>
          </p:cNvPr>
          <p:cNvPicPr>
            <a:picLocks noChangeAspect="1"/>
          </p:cNvPicPr>
          <p:nvPr/>
        </p:nvPicPr>
        <p:blipFill>
          <a:blip r:embed="rId4"/>
          <a:stretch>
            <a:fillRect/>
          </a:stretch>
        </p:blipFill>
        <p:spPr>
          <a:xfrm>
            <a:off x="2402989" y="836093"/>
            <a:ext cx="4196593" cy="3426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68925" y="-15299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Результати експерименту: точність</a:t>
            </a:r>
            <a:endParaRPr sz="3200" dirty="0"/>
          </a:p>
        </p:txBody>
      </p:sp>
      <p:pic>
        <p:nvPicPr>
          <p:cNvPr id="122" name="Google Shape;122;p21"/>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8800C66-AABB-EFA8-12F4-0C56A1243712}"/>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11</a:t>
            </a:fld>
            <a:endParaRPr lang="uk-UA" dirty="0"/>
          </a:p>
        </p:txBody>
      </p:sp>
      <p:graphicFrame>
        <p:nvGraphicFramePr>
          <p:cNvPr id="9" name="Таблиця 8">
            <a:extLst>
              <a:ext uri="{FF2B5EF4-FFF2-40B4-BE49-F238E27FC236}">
                <a16:creationId xmlns:a16="http://schemas.microsoft.com/office/drawing/2014/main" id="{431C16B2-2673-AFA4-ADEE-87300E9EC756}"/>
              </a:ext>
            </a:extLst>
          </p:cNvPr>
          <p:cNvGraphicFramePr>
            <a:graphicFrameLocks noGrp="1"/>
          </p:cNvGraphicFramePr>
          <p:nvPr>
            <p:extLst>
              <p:ext uri="{D42A27DB-BD31-4B8C-83A1-F6EECF244321}">
                <p14:modId xmlns:p14="http://schemas.microsoft.com/office/powerpoint/2010/main" val="1737787527"/>
              </p:ext>
            </p:extLst>
          </p:nvPr>
        </p:nvGraphicFramePr>
        <p:xfrm>
          <a:off x="748748" y="841707"/>
          <a:ext cx="7454348" cy="3354388"/>
        </p:xfrm>
        <a:graphic>
          <a:graphicData uri="http://schemas.openxmlformats.org/drawingml/2006/table">
            <a:tbl>
              <a:tblPr firstRow="1" firstCol="1" bandRow="1">
                <a:tableStyleId>{5C22544A-7EE6-4342-B048-85BDC9FD1C3A}</a:tableStyleId>
              </a:tblPr>
              <a:tblGrid>
                <a:gridCol w="1683026">
                  <a:extLst>
                    <a:ext uri="{9D8B030D-6E8A-4147-A177-3AD203B41FA5}">
                      <a16:colId xmlns:a16="http://schemas.microsoft.com/office/drawing/2014/main" val="1326166013"/>
                    </a:ext>
                  </a:extLst>
                </a:gridCol>
                <a:gridCol w="641258">
                  <a:extLst>
                    <a:ext uri="{9D8B030D-6E8A-4147-A177-3AD203B41FA5}">
                      <a16:colId xmlns:a16="http://schemas.microsoft.com/office/drawing/2014/main" val="2124107522"/>
                    </a:ext>
                  </a:extLst>
                </a:gridCol>
                <a:gridCol w="641258">
                  <a:extLst>
                    <a:ext uri="{9D8B030D-6E8A-4147-A177-3AD203B41FA5}">
                      <a16:colId xmlns:a16="http://schemas.microsoft.com/office/drawing/2014/main" val="1761778303"/>
                    </a:ext>
                  </a:extLst>
                </a:gridCol>
                <a:gridCol w="641258">
                  <a:extLst>
                    <a:ext uri="{9D8B030D-6E8A-4147-A177-3AD203B41FA5}">
                      <a16:colId xmlns:a16="http://schemas.microsoft.com/office/drawing/2014/main" val="693206649"/>
                    </a:ext>
                  </a:extLst>
                </a:gridCol>
                <a:gridCol w="641258">
                  <a:extLst>
                    <a:ext uri="{9D8B030D-6E8A-4147-A177-3AD203B41FA5}">
                      <a16:colId xmlns:a16="http://schemas.microsoft.com/office/drawing/2014/main" val="3079810614"/>
                    </a:ext>
                  </a:extLst>
                </a:gridCol>
                <a:gridCol w="641258">
                  <a:extLst>
                    <a:ext uri="{9D8B030D-6E8A-4147-A177-3AD203B41FA5}">
                      <a16:colId xmlns:a16="http://schemas.microsoft.com/office/drawing/2014/main" val="2680348799"/>
                    </a:ext>
                  </a:extLst>
                </a:gridCol>
                <a:gridCol w="641258">
                  <a:extLst>
                    <a:ext uri="{9D8B030D-6E8A-4147-A177-3AD203B41FA5}">
                      <a16:colId xmlns:a16="http://schemas.microsoft.com/office/drawing/2014/main" val="799584898"/>
                    </a:ext>
                  </a:extLst>
                </a:gridCol>
                <a:gridCol w="641258">
                  <a:extLst>
                    <a:ext uri="{9D8B030D-6E8A-4147-A177-3AD203B41FA5}">
                      <a16:colId xmlns:a16="http://schemas.microsoft.com/office/drawing/2014/main" val="1290636826"/>
                    </a:ext>
                  </a:extLst>
                </a:gridCol>
                <a:gridCol w="641258">
                  <a:extLst>
                    <a:ext uri="{9D8B030D-6E8A-4147-A177-3AD203B41FA5}">
                      <a16:colId xmlns:a16="http://schemas.microsoft.com/office/drawing/2014/main" val="313989887"/>
                    </a:ext>
                  </a:extLst>
                </a:gridCol>
                <a:gridCol w="641258">
                  <a:extLst>
                    <a:ext uri="{9D8B030D-6E8A-4147-A177-3AD203B41FA5}">
                      <a16:colId xmlns:a16="http://schemas.microsoft.com/office/drawing/2014/main" val="3563849237"/>
                    </a:ext>
                  </a:extLst>
                </a:gridCol>
              </a:tblGrid>
              <a:tr h="227903">
                <a:tc rowSpan="2">
                  <a:txBody>
                    <a:bodyPr/>
                    <a:lstStyle/>
                    <a:p>
                      <a:pPr algn="ctr">
                        <a:lnSpc>
                          <a:spcPct val="150000"/>
                        </a:lnSpc>
                        <a:spcAft>
                          <a:spcPts val="1000"/>
                        </a:spcAft>
                        <a:buNone/>
                      </a:pPr>
                      <a:r>
                        <a:rPr lang="ru-RU" sz="1100" dirty="0">
                          <a:effectLst/>
                        </a:rPr>
                        <a:t>Метод</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gridSpan="3">
                  <a:txBody>
                    <a:bodyPr/>
                    <a:lstStyle/>
                    <a:p>
                      <a:pPr algn="ctr">
                        <a:lnSpc>
                          <a:spcPct val="150000"/>
                        </a:lnSpc>
                        <a:spcAft>
                          <a:spcPts val="1000"/>
                        </a:spcAft>
                        <a:buNone/>
                      </a:pPr>
                      <a:r>
                        <a:rPr lang="en-US" sz="1100" dirty="0">
                          <a:effectLst/>
                        </a:rPr>
                        <a:t>UKR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hMerge="1">
                  <a:txBody>
                    <a:bodyPr/>
                    <a:lstStyle/>
                    <a:p>
                      <a:endParaRPr lang="LID4096"/>
                    </a:p>
                  </a:txBody>
                  <a:tcPr/>
                </a:tc>
                <a:tc hMerge="1">
                  <a:txBody>
                    <a:bodyPr/>
                    <a:lstStyle/>
                    <a:p>
                      <a:endParaRPr lang="LID4096"/>
                    </a:p>
                  </a:txBody>
                  <a:tcPr/>
                </a:tc>
                <a:tc gridSpan="3">
                  <a:txBody>
                    <a:bodyPr/>
                    <a:lstStyle/>
                    <a:p>
                      <a:pPr algn="ctr">
                        <a:lnSpc>
                          <a:spcPct val="150000"/>
                        </a:lnSpc>
                        <a:spcAft>
                          <a:spcPts val="1000"/>
                        </a:spcAft>
                        <a:buNone/>
                      </a:pPr>
                      <a:r>
                        <a:rPr lang="en-US" sz="1100">
                          <a:effectLst/>
                        </a:rPr>
                        <a:t>QQP</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hMerge="1">
                  <a:txBody>
                    <a:bodyPr/>
                    <a:lstStyle/>
                    <a:p>
                      <a:endParaRPr lang="LID4096"/>
                    </a:p>
                  </a:txBody>
                  <a:tcPr/>
                </a:tc>
                <a:tc hMerge="1">
                  <a:txBody>
                    <a:bodyPr/>
                    <a:lstStyle/>
                    <a:p>
                      <a:endParaRPr lang="LID4096"/>
                    </a:p>
                  </a:txBody>
                  <a:tcPr/>
                </a:tc>
                <a:tc gridSpan="3">
                  <a:txBody>
                    <a:bodyPr/>
                    <a:lstStyle/>
                    <a:p>
                      <a:pPr algn="ctr">
                        <a:lnSpc>
                          <a:spcPct val="150000"/>
                        </a:lnSpc>
                        <a:spcAft>
                          <a:spcPts val="1000"/>
                        </a:spcAft>
                        <a:buNone/>
                      </a:pPr>
                      <a:r>
                        <a:rPr lang="en-US" sz="1100">
                          <a:effectLst/>
                        </a:rPr>
                        <a:t>PAWS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2004799392"/>
                  </a:ext>
                </a:extLst>
              </a:tr>
              <a:tr h="227903">
                <a:tc vMerge="1">
                  <a:txBody>
                    <a:bodyPr/>
                    <a:lstStyle/>
                    <a:p>
                      <a:endParaRPr lang="LID4096"/>
                    </a:p>
                  </a:txBody>
                  <a:tcPr/>
                </a:tc>
                <a:tc>
                  <a:txBody>
                    <a:bodyPr/>
                    <a:lstStyle/>
                    <a:p>
                      <a:pPr algn="ctr">
                        <a:lnSpc>
                          <a:spcPct val="150000"/>
                        </a:lnSpc>
                        <a:spcAft>
                          <a:spcPts val="1000"/>
                        </a:spcAft>
                        <a:buNone/>
                      </a:pPr>
                      <a:r>
                        <a:rPr lang="en-US" sz="1100" dirty="0">
                          <a:effectLst/>
                        </a:rPr>
                        <a:t>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dirty="0">
                          <a:effectLst/>
                        </a:rPr>
                        <a:t>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b="1" dirty="0">
                          <a:effectLst/>
                        </a:rPr>
                        <a:t>F1</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a:effectLst/>
                        </a:rPr>
                        <a:t>P</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a:effectLst/>
                        </a:rPr>
                        <a:t>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b="1" dirty="0">
                          <a:effectLst/>
                        </a:rPr>
                        <a:t>F1</a:t>
                      </a:r>
                      <a:endParaRPr lang="en-US"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a:effectLst/>
                        </a:rPr>
                        <a:t>P</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a:effectLst/>
                        </a:rPr>
                        <a:t>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en-US" sz="1100">
                          <a:effectLst/>
                        </a:rPr>
                        <a:t>F1</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141324672"/>
                  </a:ext>
                </a:extLst>
              </a:tr>
              <a:tr h="483097">
                <a:tc>
                  <a:txBody>
                    <a:bodyPr/>
                    <a:lstStyle/>
                    <a:p>
                      <a:pPr algn="just">
                        <a:lnSpc>
                          <a:spcPct val="150000"/>
                        </a:lnSpc>
                        <a:spcAft>
                          <a:spcPts val="1000"/>
                        </a:spcAft>
                        <a:buNone/>
                      </a:pPr>
                      <a:r>
                        <a:rPr lang="en-US" sz="1100">
                          <a:effectLst/>
                        </a:rPr>
                        <a:t>TF-IDF</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0,529</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0,962</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0,683</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0,451</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0,946</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0,61</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0,464</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0,897</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a:effectLst/>
                        </a:rPr>
                        <a:t>0,612</a:t>
                      </a:r>
                      <a:endParaRPr lang="ru-RU" sz="900" b="1">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3884908585"/>
                  </a:ext>
                </a:extLst>
              </a:tr>
              <a:tr h="483097">
                <a:tc>
                  <a:txBody>
                    <a:bodyPr/>
                    <a:lstStyle/>
                    <a:p>
                      <a:pPr algn="just">
                        <a:lnSpc>
                          <a:spcPct val="150000"/>
                        </a:lnSpc>
                        <a:spcAft>
                          <a:spcPts val="1000"/>
                        </a:spcAft>
                        <a:buNone/>
                      </a:pPr>
                      <a:r>
                        <a:rPr lang="en-US" sz="1100">
                          <a:effectLst/>
                        </a:rPr>
                        <a:t>n-</a:t>
                      </a:r>
                      <a:r>
                        <a:rPr lang="ru-RU" sz="1100">
                          <a:effectLst/>
                        </a:rPr>
                        <a:t>грам</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0,532</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0,980</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0,689</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0,51</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0,856</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0,636</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0,455</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0,953</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a:effectLst/>
                        </a:rPr>
                        <a:t>0,616</a:t>
                      </a:r>
                      <a:endParaRPr lang="ru-RU" sz="900" b="1">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115719826"/>
                  </a:ext>
                </a:extLst>
              </a:tr>
              <a:tr h="483097">
                <a:tc>
                  <a:txBody>
                    <a:bodyPr/>
                    <a:lstStyle/>
                    <a:p>
                      <a:pPr algn="just">
                        <a:lnSpc>
                          <a:spcPct val="150000"/>
                        </a:lnSpc>
                        <a:spcAft>
                          <a:spcPts val="1000"/>
                        </a:spcAft>
                        <a:buNone/>
                      </a:pPr>
                      <a:r>
                        <a:rPr lang="ru-RU" sz="1100">
                          <a:effectLst/>
                        </a:rPr>
                        <a:t>Бі-енкодер 0-</a:t>
                      </a:r>
                      <a:r>
                        <a:rPr lang="en-US" sz="1100">
                          <a:effectLst/>
                        </a:rPr>
                        <a:t>shot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0,552</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0,983</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0,707</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0,651</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0,788</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0,713</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0,442</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0,99</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a:effectLst/>
                        </a:rPr>
                        <a:t>0,613</a:t>
                      </a:r>
                      <a:endParaRPr lang="ru-RU" sz="900" b="1">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1000964175"/>
                  </a:ext>
                </a:extLst>
              </a:tr>
              <a:tr h="483097">
                <a:tc>
                  <a:txBody>
                    <a:bodyPr/>
                    <a:lstStyle/>
                    <a:p>
                      <a:pPr algn="just">
                        <a:lnSpc>
                          <a:spcPct val="150000"/>
                        </a:lnSpc>
                        <a:spcAft>
                          <a:spcPts val="1000"/>
                        </a:spcAft>
                        <a:buNone/>
                      </a:pPr>
                      <a:r>
                        <a:rPr lang="ru-RU" sz="1100">
                          <a:effectLst/>
                        </a:rPr>
                        <a:t>Бі-енкодер </a:t>
                      </a:r>
                      <a:r>
                        <a:rPr lang="en-US" sz="1100">
                          <a:effectLst/>
                        </a:rPr>
                        <a:t>FT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0,712</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0,904</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0,797</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0,739</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0,852</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200" b="1" dirty="0">
                          <a:effectLst/>
                        </a:rPr>
                        <a:t>0,792*</a:t>
                      </a:r>
                      <a:endParaRPr lang="ru-RU"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0,560</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0,789</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0,655</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3171138788"/>
                  </a:ext>
                </a:extLst>
              </a:tr>
              <a:tr h="483097">
                <a:tc>
                  <a:txBody>
                    <a:bodyPr/>
                    <a:lstStyle/>
                    <a:p>
                      <a:pPr algn="just">
                        <a:lnSpc>
                          <a:spcPct val="150000"/>
                        </a:lnSpc>
                        <a:spcAft>
                          <a:spcPts val="1000"/>
                        </a:spcAft>
                        <a:buNone/>
                      </a:pPr>
                      <a:r>
                        <a:rPr lang="ru-RU" sz="1100">
                          <a:effectLst/>
                        </a:rPr>
                        <a:t>Крос-енкодер 0-</a:t>
                      </a:r>
                      <a:r>
                        <a:rPr lang="en-US" sz="1100">
                          <a:effectLst/>
                        </a:rPr>
                        <a:t>shot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0,746</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0,933</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0,829</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0,715</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0,83</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0,768</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0,774</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0,868</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200" b="1" dirty="0">
                          <a:effectLst/>
                        </a:rPr>
                        <a:t>0,819*</a:t>
                      </a:r>
                      <a:endParaRPr lang="ru-RU"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3860233458"/>
                  </a:ext>
                </a:extLst>
              </a:tr>
              <a:tr h="483097">
                <a:tc>
                  <a:txBody>
                    <a:bodyPr/>
                    <a:lstStyle/>
                    <a:p>
                      <a:pPr algn="just">
                        <a:lnSpc>
                          <a:spcPct val="150000"/>
                        </a:lnSpc>
                        <a:spcAft>
                          <a:spcPts val="1000"/>
                        </a:spcAft>
                        <a:buNone/>
                      </a:pPr>
                      <a:r>
                        <a:rPr lang="ru-RU" sz="1100">
                          <a:effectLst/>
                        </a:rPr>
                        <a:t>Крос-енкодер </a:t>
                      </a:r>
                      <a:r>
                        <a:rPr lang="en-US" sz="1100">
                          <a:effectLst/>
                        </a:rPr>
                        <a:t>FT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0,966</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0,952</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200" b="1" dirty="0">
                          <a:effectLst/>
                        </a:rPr>
                        <a:t>0,959*</a:t>
                      </a:r>
                      <a:endParaRPr lang="ru-RU"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0,743</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0,813</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0,776</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a:effectLst/>
                        </a:rPr>
                        <a:t>0,443</a:t>
                      </a:r>
                      <a:endParaRPr lang="ru-RU" sz="90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dirty="0">
                          <a:effectLst/>
                        </a:rPr>
                        <a:t>0,997</a:t>
                      </a:r>
                      <a:endParaRPr lang="ru-RU"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tc>
                  <a:txBody>
                    <a:bodyPr/>
                    <a:lstStyle/>
                    <a:p>
                      <a:pPr algn="ctr">
                        <a:lnSpc>
                          <a:spcPct val="150000"/>
                        </a:lnSpc>
                        <a:spcAft>
                          <a:spcPts val="1000"/>
                        </a:spcAft>
                        <a:buNone/>
                      </a:pPr>
                      <a:r>
                        <a:rPr lang="ru-RU" sz="1100" b="1" dirty="0">
                          <a:effectLst/>
                        </a:rPr>
                        <a:t>0,613</a:t>
                      </a:r>
                      <a:endParaRPr lang="ru-RU" sz="900" b="1" dirty="0">
                        <a:effectLst/>
                        <a:latin typeface="Calibri" panose="020F0502020204030204" pitchFamily="34" charset="0"/>
                        <a:ea typeface="Calibri" panose="020F0502020204030204" pitchFamily="34" charset="0"/>
                        <a:cs typeface="Times New Roman" panose="02020603050405020304" pitchFamily="18" charset="0"/>
                      </a:endParaRPr>
                    </a:p>
                  </a:txBody>
                  <a:tcPr marL="54684" marR="54684" marT="0" marB="0"/>
                </a:tc>
                <a:extLst>
                  <a:ext uri="{0D108BD9-81ED-4DB2-BD59-A6C34878D82A}">
                    <a16:rowId xmlns:a16="http://schemas.microsoft.com/office/drawing/2014/main" val="2057078462"/>
                  </a:ext>
                </a:extLst>
              </a:tr>
            </a:tbl>
          </a:graphicData>
        </a:graphic>
      </p:graphicFrame>
      <p:sp>
        <p:nvSpPr>
          <p:cNvPr id="10" name="TextBox 9">
            <a:extLst>
              <a:ext uri="{FF2B5EF4-FFF2-40B4-BE49-F238E27FC236}">
                <a16:creationId xmlns:a16="http://schemas.microsoft.com/office/drawing/2014/main" id="{1F0DA204-9AE3-FEC1-FA76-8DE0E61C8934}"/>
              </a:ext>
            </a:extLst>
          </p:cNvPr>
          <p:cNvSpPr txBox="1"/>
          <p:nvPr/>
        </p:nvSpPr>
        <p:spPr>
          <a:xfrm>
            <a:off x="3289027" y="4196095"/>
            <a:ext cx="3376245" cy="307777"/>
          </a:xfrm>
          <a:prstGeom prst="rect">
            <a:avLst/>
          </a:prstGeom>
          <a:noFill/>
        </p:spPr>
        <p:txBody>
          <a:bodyPr wrap="none" rtlCol="0">
            <a:spAutoFit/>
          </a:bodyPr>
          <a:lstStyle/>
          <a:p>
            <a:r>
              <a:rPr lang="uk-UA" b="1" dirty="0"/>
              <a:t>*</a:t>
            </a:r>
            <a:r>
              <a:rPr lang="uk-UA" dirty="0"/>
              <a:t> </a:t>
            </a:r>
            <a:r>
              <a:rPr lang="ru-UA" dirty="0"/>
              <a:t>–</a:t>
            </a:r>
            <a:r>
              <a:rPr lang="uk-UA" dirty="0"/>
              <a:t> найбільший показник для </a:t>
            </a:r>
            <a:r>
              <a:rPr lang="uk-UA" dirty="0" err="1"/>
              <a:t>датасету</a:t>
            </a:r>
            <a:endParaRPr lang="LID4096"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Аналіз отриманих результатів </a:t>
            </a:r>
            <a:endParaRPr sz="3200" dirty="0"/>
          </a:p>
        </p:txBody>
      </p:sp>
      <p:sp>
        <p:nvSpPr>
          <p:cNvPr id="128" name="Google Shape;128;p22"/>
          <p:cNvSpPr txBox="1">
            <a:spLocks noGrp="1"/>
          </p:cNvSpPr>
          <p:nvPr>
            <p:ph type="body" idx="1"/>
          </p:nvPr>
        </p:nvSpPr>
        <p:spPr>
          <a:xfrm>
            <a:off x="311700" y="1225225"/>
            <a:ext cx="4765822" cy="3354000"/>
          </a:xfrm>
          <a:prstGeom prst="rect">
            <a:avLst/>
          </a:prstGeom>
        </p:spPr>
        <p:txBody>
          <a:bodyPr spcFirstLastPara="1" wrap="square" lIns="91425" tIns="91425" rIns="91425" bIns="91425" anchor="t" anchorCtr="0">
            <a:normAutofit/>
          </a:bodyPr>
          <a:lstStyle/>
          <a:p>
            <a:pPr marL="285750" indent="-285750">
              <a:spcBef>
                <a:spcPts val="1500"/>
              </a:spcBef>
              <a:spcAft>
                <a:spcPts val="1200"/>
              </a:spcAft>
            </a:pPr>
            <a:r>
              <a:rPr lang="uk-UA" dirty="0" err="1"/>
              <a:t>Бутстреп</a:t>
            </a:r>
            <a:r>
              <a:rPr lang="en-US" dirty="0"/>
              <a:t>-</a:t>
            </a:r>
            <a:r>
              <a:rPr lang="uk-UA" dirty="0"/>
              <a:t>тестування: </a:t>
            </a:r>
            <a:r>
              <a:rPr lang="el-GR" dirty="0"/>
              <a:t>Δ</a:t>
            </a:r>
            <a:r>
              <a:rPr lang="en-US" dirty="0"/>
              <a:t>F₁ = +0,090 </a:t>
            </a:r>
            <a:r>
              <a:rPr lang="uk-UA" dirty="0"/>
              <a:t>для </a:t>
            </a:r>
            <a:r>
              <a:rPr lang="uk-UA" dirty="0" err="1"/>
              <a:t>бі</a:t>
            </a:r>
            <a:r>
              <a:rPr lang="uk-UA" dirty="0"/>
              <a:t>-</a:t>
            </a:r>
            <a:r>
              <a:rPr lang="en-US" dirty="0"/>
              <a:t>FT (p&lt;0.001), </a:t>
            </a:r>
            <a:r>
              <a:rPr lang="el-GR" dirty="0"/>
              <a:t>Δ</a:t>
            </a:r>
            <a:r>
              <a:rPr lang="en-US" dirty="0"/>
              <a:t>F₁ = −0,206 </a:t>
            </a:r>
            <a:r>
              <a:rPr lang="uk-UA" dirty="0"/>
              <a:t>для крос-</a:t>
            </a:r>
            <a:r>
              <a:rPr lang="en-US" dirty="0"/>
              <a:t>FT </a:t>
            </a:r>
            <a:r>
              <a:rPr lang="uk-UA" dirty="0"/>
              <a:t>на </a:t>
            </a:r>
            <a:r>
              <a:rPr lang="en-US" dirty="0"/>
              <a:t>PAWS (p&lt;0.001)</a:t>
            </a:r>
            <a:endParaRPr lang="uk-UA" dirty="0"/>
          </a:p>
          <a:p>
            <a:pPr marL="285750" indent="-285750">
              <a:spcBef>
                <a:spcPts val="1500"/>
              </a:spcBef>
              <a:spcAft>
                <a:spcPts val="1200"/>
              </a:spcAft>
            </a:pPr>
            <a:r>
              <a:rPr lang="uk-UA" dirty="0"/>
              <a:t>Перенавчання </a:t>
            </a:r>
            <a:r>
              <a:rPr lang="uk-UA" dirty="0" err="1"/>
              <a:t>бі-енкодера</a:t>
            </a:r>
            <a:r>
              <a:rPr lang="uk-UA" dirty="0"/>
              <a:t> на простих прикладах</a:t>
            </a:r>
          </a:p>
          <a:p>
            <a:pPr marL="285750" indent="-285750">
              <a:spcBef>
                <a:spcPts val="1500"/>
              </a:spcBef>
              <a:spcAft>
                <a:spcPts val="1200"/>
              </a:spcAft>
            </a:pPr>
            <a:endParaRPr dirty="0"/>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12</a:t>
            </a:fld>
            <a:endParaRPr lang="uk-UA" dirty="0"/>
          </a:p>
        </p:txBody>
      </p:sp>
      <p:pic>
        <p:nvPicPr>
          <p:cNvPr id="3" name="Рисунок 2">
            <a:extLst>
              <a:ext uri="{FF2B5EF4-FFF2-40B4-BE49-F238E27FC236}">
                <a16:creationId xmlns:a16="http://schemas.microsoft.com/office/drawing/2014/main" id="{3A22DC21-F45E-40F3-3FD9-A4609AEC54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8395" y="1267735"/>
            <a:ext cx="3916680" cy="3268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C9F6B1F7-2C76-1D0A-39D1-32A0683C69E7}"/>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23B9BDD7-3B10-EDC2-5A88-7739B0340EFF}"/>
              </a:ext>
            </a:extLst>
          </p:cNvPr>
          <p:cNvSpPr txBox="1">
            <a:spLocks noGrp="1"/>
          </p:cNvSpPr>
          <p:nvPr>
            <p:ph type="title"/>
          </p:nvPr>
        </p:nvSpPr>
        <p:spPr>
          <a:xfrm>
            <a:off x="268925" y="-15299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Результати експерименту: швидкодія</a:t>
            </a:r>
            <a:endParaRPr sz="3200" dirty="0"/>
          </a:p>
        </p:txBody>
      </p:sp>
      <p:pic>
        <p:nvPicPr>
          <p:cNvPr id="122" name="Google Shape;122;p21">
            <a:extLst>
              <a:ext uri="{FF2B5EF4-FFF2-40B4-BE49-F238E27FC236}">
                <a16:creationId xmlns:a16="http://schemas.microsoft.com/office/drawing/2014/main" id="{B50E7476-EBB7-9FF1-978C-5B71872F3CEF}"/>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BD8143D-D21C-751D-C796-2B568ACED62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13</a:t>
            </a:fld>
            <a:endParaRPr lang="uk-UA" dirty="0"/>
          </a:p>
        </p:txBody>
      </p:sp>
      <p:graphicFrame>
        <p:nvGraphicFramePr>
          <p:cNvPr id="4" name="Таблиця 3">
            <a:extLst>
              <a:ext uri="{FF2B5EF4-FFF2-40B4-BE49-F238E27FC236}">
                <a16:creationId xmlns:a16="http://schemas.microsoft.com/office/drawing/2014/main" id="{3897191A-5957-A41A-52F3-8553F3EA214D}"/>
              </a:ext>
            </a:extLst>
          </p:cNvPr>
          <p:cNvGraphicFramePr>
            <a:graphicFrameLocks noGrp="1"/>
          </p:cNvGraphicFramePr>
          <p:nvPr>
            <p:extLst>
              <p:ext uri="{D42A27DB-BD31-4B8C-83A1-F6EECF244321}">
                <p14:modId xmlns:p14="http://schemas.microsoft.com/office/powerpoint/2010/main" val="3848062073"/>
              </p:ext>
            </p:extLst>
          </p:nvPr>
        </p:nvGraphicFramePr>
        <p:xfrm>
          <a:off x="1382482" y="1230372"/>
          <a:ext cx="6293485" cy="2033400"/>
        </p:xfrm>
        <a:graphic>
          <a:graphicData uri="http://schemas.openxmlformats.org/drawingml/2006/table">
            <a:tbl>
              <a:tblPr firstRow="1" firstCol="1" bandRow="1">
                <a:tableStyleId>{5C22544A-7EE6-4342-B048-85BDC9FD1C3A}</a:tableStyleId>
              </a:tblPr>
              <a:tblGrid>
                <a:gridCol w="1797050">
                  <a:extLst>
                    <a:ext uri="{9D8B030D-6E8A-4147-A177-3AD203B41FA5}">
                      <a16:colId xmlns:a16="http://schemas.microsoft.com/office/drawing/2014/main" val="1337158418"/>
                    </a:ext>
                  </a:extLst>
                </a:gridCol>
                <a:gridCol w="1498600">
                  <a:extLst>
                    <a:ext uri="{9D8B030D-6E8A-4147-A177-3AD203B41FA5}">
                      <a16:colId xmlns:a16="http://schemas.microsoft.com/office/drawing/2014/main" val="1758741525"/>
                    </a:ext>
                  </a:extLst>
                </a:gridCol>
                <a:gridCol w="1498600">
                  <a:extLst>
                    <a:ext uri="{9D8B030D-6E8A-4147-A177-3AD203B41FA5}">
                      <a16:colId xmlns:a16="http://schemas.microsoft.com/office/drawing/2014/main" val="3458697457"/>
                    </a:ext>
                  </a:extLst>
                </a:gridCol>
                <a:gridCol w="1499235">
                  <a:extLst>
                    <a:ext uri="{9D8B030D-6E8A-4147-A177-3AD203B41FA5}">
                      <a16:colId xmlns:a16="http://schemas.microsoft.com/office/drawing/2014/main" val="3566712978"/>
                    </a:ext>
                  </a:extLst>
                </a:gridCol>
              </a:tblGrid>
              <a:tr h="0">
                <a:tc>
                  <a:txBody>
                    <a:bodyPr/>
                    <a:lstStyle/>
                    <a:p>
                      <a:pPr algn="ctr">
                        <a:lnSpc>
                          <a:spcPct val="150000"/>
                        </a:lnSpc>
                        <a:spcAft>
                          <a:spcPts val="1000"/>
                        </a:spcAft>
                        <a:buNone/>
                      </a:pPr>
                      <a:r>
                        <a:rPr lang="ru-RU" sz="1400">
                          <a:effectLst/>
                        </a:rPr>
                        <a:t>Метод</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400">
                          <a:effectLst/>
                        </a:rPr>
                        <a:t>UKR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400">
                          <a:effectLst/>
                        </a:rPr>
                        <a:t>QQP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400">
                          <a:effectLst/>
                        </a:rPr>
                        <a:t>PAWS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0259845"/>
                  </a:ext>
                </a:extLst>
              </a:tr>
              <a:tr h="0">
                <a:tc>
                  <a:txBody>
                    <a:bodyPr/>
                    <a:lstStyle/>
                    <a:p>
                      <a:pPr algn="just">
                        <a:lnSpc>
                          <a:spcPct val="150000"/>
                        </a:lnSpc>
                        <a:spcAft>
                          <a:spcPts val="1000"/>
                        </a:spcAft>
                        <a:buNone/>
                      </a:pPr>
                      <a:r>
                        <a:rPr lang="en-US" sz="1400">
                          <a:effectLst/>
                        </a:rPr>
                        <a:t>TF-IDF</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1,02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1,00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1,68</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4775099"/>
                  </a:ext>
                </a:extLst>
              </a:tr>
              <a:tr h="0">
                <a:tc>
                  <a:txBody>
                    <a:bodyPr/>
                    <a:lstStyle/>
                    <a:p>
                      <a:pPr algn="just">
                        <a:lnSpc>
                          <a:spcPct val="150000"/>
                        </a:lnSpc>
                        <a:spcAft>
                          <a:spcPts val="1000"/>
                        </a:spcAft>
                        <a:buNone/>
                      </a:pPr>
                      <a:r>
                        <a:rPr lang="ru-RU" sz="1400">
                          <a:effectLst/>
                        </a:rPr>
                        <a:t>Жаккара </a:t>
                      </a:r>
                      <a:r>
                        <a:rPr lang="en-US" sz="1400">
                          <a:effectLst/>
                        </a:rPr>
                        <a:t>n-</a:t>
                      </a:r>
                      <a:r>
                        <a:rPr lang="ru-RU" sz="1400">
                          <a:effectLst/>
                        </a:rPr>
                        <a:t>грам</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0,11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0,08</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0,14</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85093531"/>
                  </a:ext>
                </a:extLst>
              </a:tr>
              <a:tr h="0">
                <a:tc>
                  <a:txBody>
                    <a:bodyPr/>
                    <a:lstStyle/>
                    <a:p>
                      <a:pPr algn="just">
                        <a:lnSpc>
                          <a:spcPct val="150000"/>
                        </a:lnSpc>
                        <a:spcAft>
                          <a:spcPts val="1000"/>
                        </a:spcAft>
                        <a:buNone/>
                      </a:pPr>
                      <a:r>
                        <a:rPr lang="ru-RU" sz="1400">
                          <a:effectLst/>
                        </a:rPr>
                        <a:t>Бі-енкодер 0-</a:t>
                      </a:r>
                      <a:r>
                        <a:rPr lang="en-US" sz="1400">
                          <a:effectLst/>
                        </a:rPr>
                        <a:t>shot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12,57</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11,75</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12,01</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5937055"/>
                  </a:ext>
                </a:extLst>
              </a:tr>
              <a:tr h="0">
                <a:tc>
                  <a:txBody>
                    <a:bodyPr/>
                    <a:lstStyle/>
                    <a:p>
                      <a:pPr algn="just">
                        <a:lnSpc>
                          <a:spcPct val="150000"/>
                        </a:lnSpc>
                        <a:spcAft>
                          <a:spcPts val="1000"/>
                        </a:spcAft>
                        <a:buNone/>
                      </a:pPr>
                      <a:r>
                        <a:rPr lang="ru-RU" sz="1400">
                          <a:effectLst/>
                        </a:rPr>
                        <a:t>Бі-енкодер </a:t>
                      </a:r>
                      <a:r>
                        <a:rPr lang="en-US" sz="1400">
                          <a:effectLst/>
                        </a:rPr>
                        <a:t>FT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12,02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16,60</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11,39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9117302"/>
                  </a:ext>
                </a:extLst>
              </a:tr>
              <a:tr h="0">
                <a:tc>
                  <a:txBody>
                    <a:bodyPr/>
                    <a:lstStyle/>
                    <a:p>
                      <a:pPr algn="just">
                        <a:lnSpc>
                          <a:spcPct val="150000"/>
                        </a:lnSpc>
                        <a:spcAft>
                          <a:spcPts val="1000"/>
                        </a:spcAft>
                        <a:buNone/>
                      </a:pPr>
                      <a:r>
                        <a:rPr lang="ru-RU" sz="1400">
                          <a:effectLst/>
                        </a:rPr>
                        <a:t>Крос-енкодер 0-</a:t>
                      </a:r>
                      <a:r>
                        <a:rPr lang="en-US" sz="1400">
                          <a:effectLst/>
                        </a:rPr>
                        <a:t>shot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24,99</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a:effectLst/>
                        </a:rPr>
                        <a:t>19,52</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dirty="0">
                          <a:effectLst/>
                        </a:rPr>
                        <a:t>28,48</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263308"/>
                  </a:ext>
                </a:extLst>
              </a:tr>
            </a:tbl>
          </a:graphicData>
        </a:graphic>
      </p:graphicFrame>
    </p:spTree>
    <p:extLst>
      <p:ext uri="{BB962C8B-B14F-4D97-AF65-F5344CB8AC3E}">
        <p14:creationId xmlns:p14="http://schemas.microsoft.com/office/powerpoint/2010/main" val="122664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E82782BC-A68B-CC68-7D39-0271563A4606}"/>
            </a:ext>
          </a:extLst>
        </p:cNvPr>
        <p:cNvGrpSpPr/>
        <p:nvPr/>
      </p:nvGrpSpPr>
      <p:grpSpPr>
        <a:xfrm>
          <a:off x="0" y="0"/>
          <a:ext cx="0" cy="0"/>
          <a:chOff x="0" y="0"/>
          <a:chExt cx="0" cy="0"/>
        </a:xfrm>
      </p:grpSpPr>
      <p:sp>
        <p:nvSpPr>
          <p:cNvPr id="134" name="Google Shape;134;p23">
            <a:extLst>
              <a:ext uri="{FF2B5EF4-FFF2-40B4-BE49-F238E27FC236}">
                <a16:creationId xmlns:a16="http://schemas.microsoft.com/office/drawing/2014/main" id="{188C65DD-75E6-9673-D5C6-F986C7933F09}"/>
              </a:ext>
            </a:extLst>
          </p:cNvPr>
          <p:cNvSpPr txBox="1">
            <a:spLocks noGrp="1"/>
          </p:cNvSpPr>
          <p:nvPr>
            <p:ph type="title"/>
          </p:nvPr>
        </p:nvSpPr>
        <p:spPr>
          <a:xfrm>
            <a:off x="268925"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Обґрунтування запропонованого підходу</a:t>
            </a:r>
            <a:endParaRPr sz="3200" dirty="0"/>
          </a:p>
        </p:txBody>
      </p:sp>
      <p:sp>
        <p:nvSpPr>
          <p:cNvPr id="135" name="Google Shape;135;p23">
            <a:extLst>
              <a:ext uri="{FF2B5EF4-FFF2-40B4-BE49-F238E27FC236}">
                <a16:creationId xmlns:a16="http://schemas.microsoft.com/office/drawing/2014/main" id="{0681EB30-F22E-4709-79EC-8B30447415B4}"/>
              </a:ext>
            </a:extLst>
          </p:cNvPr>
          <p:cNvSpPr txBox="1">
            <a:spLocks noGrp="1"/>
          </p:cNvSpPr>
          <p:nvPr>
            <p:ph type="body" idx="1"/>
          </p:nvPr>
        </p:nvSpPr>
        <p:spPr>
          <a:xfrm>
            <a:off x="311701" y="1225225"/>
            <a:ext cx="3871694" cy="3354000"/>
          </a:xfrm>
          <a:prstGeom prst="rect">
            <a:avLst/>
          </a:prstGeom>
        </p:spPr>
        <p:txBody>
          <a:bodyPr spcFirstLastPara="1" wrap="square" lIns="91425" tIns="91425" rIns="91425" bIns="91425" anchor="t" anchorCtr="0">
            <a:normAutofit/>
          </a:bodyPr>
          <a:lstStyle/>
          <a:p>
            <a:pPr marL="285750" indent="-285750"/>
            <a:r>
              <a:rPr lang="uk-UA" dirty="0">
                <a:latin typeface="Economica" panose="020B0604020202020204" charset="0"/>
              </a:rPr>
              <a:t>Перший етап пошуку кандидатів – </a:t>
            </a:r>
            <a:r>
              <a:rPr lang="uk-UA" dirty="0" err="1">
                <a:latin typeface="Economica" panose="020B0604020202020204" charset="0"/>
              </a:rPr>
              <a:t>бі-енкодер</a:t>
            </a:r>
            <a:r>
              <a:rPr lang="uk-UA" dirty="0">
                <a:latin typeface="Economica" panose="020B0604020202020204" charset="0"/>
              </a:rPr>
              <a:t> </a:t>
            </a:r>
            <a:r>
              <a:rPr lang="en-US" dirty="0">
                <a:latin typeface="Economica" panose="020B0604020202020204" charset="0"/>
              </a:rPr>
              <a:t>paraphrase-multilingual-MiniLM-L12-v2</a:t>
            </a:r>
            <a:endParaRPr lang="uk-UA" dirty="0">
              <a:latin typeface="Economica" panose="020B0604020202020204" charset="0"/>
            </a:endParaRPr>
          </a:p>
          <a:p>
            <a:pPr marL="285750" indent="-285750"/>
            <a:r>
              <a:rPr lang="uk-UA" dirty="0">
                <a:latin typeface="Economica" panose="020B0604020202020204" charset="0"/>
              </a:rPr>
              <a:t>Другий етап </a:t>
            </a:r>
            <a:r>
              <a:rPr lang="uk-UA" dirty="0" err="1">
                <a:latin typeface="Economica" panose="020B0604020202020204" charset="0"/>
              </a:rPr>
              <a:t>переражнжування</a:t>
            </a:r>
            <a:r>
              <a:rPr lang="uk-UA" dirty="0">
                <a:latin typeface="Economica" panose="020B0604020202020204" charset="0"/>
              </a:rPr>
              <a:t> – крос-</a:t>
            </a:r>
            <a:r>
              <a:rPr lang="uk-UA" dirty="0" err="1">
                <a:latin typeface="Economica" panose="020B0604020202020204" charset="0"/>
              </a:rPr>
              <a:t>енкодер</a:t>
            </a:r>
            <a:r>
              <a:rPr lang="uk-UA" dirty="0">
                <a:latin typeface="Economica" panose="020B0604020202020204" charset="0"/>
              </a:rPr>
              <a:t> </a:t>
            </a:r>
            <a:r>
              <a:rPr lang="en-US" dirty="0">
                <a:latin typeface="Economica" panose="020B0604020202020204" charset="0"/>
              </a:rPr>
              <a:t>bge-reranker-v2-m3</a:t>
            </a:r>
            <a:endParaRPr dirty="0">
              <a:latin typeface="Economica" panose="020B0604020202020204" charset="0"/>
            </a:endParaRPr>
          </a:p>
        </p:txBody>
      </p:sp>
      <p:pic>
        <p:nvPicPr>
          <p:cNvPr id="136" name="Google Shape;136;p23">
            <a:extLst>
              <a:ext uri="{FF2B5EF4-FFF2-40B4-BE49-F238E27FC236}">
                <a16:creationId xmlns:a16="http://schemas.microsoft.com/office/drawing/2014/main" id="{1A27AF0A-E196-B529-ABEC-AD95F7E9A5B7}"/>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CAB7B9E5-94F8-C1F9-5E41-FF3ED2ED7A49}"/>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14</a:t>
            </a:fld>
            <a:endParaRPr lang="uk-UA" dirty="0"/>
          </a:p>
        </p:txBody>
      </p:sp>
      <p:graphicFrame>
        <p:nvGraphicFramePr>
          <p:cNvPr id="4" name="Таблиця 3">
            <a:extLst>
              <a:ext uri="{FF2B5EF4-FFF2-40B4-BE49-F238E27FC236}">
                <a16:creationId xmlns:a16="http://schemas.microsoft.com/office/drawing/2014/main" id="{16014E89-2328-B51F-FBFB-1057215BAB75}"/>
              </a:ext>
            </a:extLst>
          </p:cNvPr>
          <p:cNvGraphicFramePr>
            <a:graphicFrameLocks noGrp="1"/>
          </p:cNvGraphicFramePr>
          <p:nvPr>
            <p:extLst>
              <p:ext uri="{D42A27DB-BD31-4B8C-83A1-F6EECF244321}">
                <p14:modId xmlns:p14="http://schemas.microsoft.com/office/powerpoint/2010/main" val="101813988"/>
              </p:ext>
            </p:extLst>
          </p:nvPr>
        </p:nvGraphicFramePr>
        <p:xfrm>
          <a:off x="4183394" y="1327505"/>
          <a:ext cx="4878898" cy="1462280"/>
        </p:xfrm>
        <a:graphic>
          <a:graphicData uri="http://schemas.openxmlformats.org/drawingml/2006/table">
            <a:tbl>
              <a:tblPr firstRow="1" firstCol="1" bandRow="1">
                <a:tableStyleId>{5C22544A-7EE6-4342-B048-85BDC9FD1C3A}</a:tableStyleId>
              </a:tblPr>
              <a:tblGrid>
                <a:gridCol w="2439203">
                  <a:extLst>
                    <a:ext uri="{9D8B030D-6E8A-4147-A177-3AD203B41FA5}">
                      <a16:colId xmlns:a16="http://schemas.microsoft.com/office/drawing/2014/main" val="2074535710"/>
                    </a:ext>
                  </a:extLst>
                </a:gridCol>
                <a:gridCol w="2439695">
                  <a:extLst>
                    <a:ext uri="{9D8B030D-6E8A-4147-A177-3AD203B41FA5}">
                      <a16:colId xmlns:a16="http://schemas.microsoft.com/office/drawing/2014/main" val="3778769400"/>
                    </a:ext>
                  </a:extLst>
                </a:gridCol>
              </a:tblGrid>
              <a:tr h="0">
                <a:tc>
                  <a:txBody>
                    <a:bodyPr/>
                    <a:lstStyle/>
                    <a:p>
                      <a:pPr algn="ctr">
                        <a:lnSpc>
                          <a:spcPct val="150000"/>
                        </a:lnSpc>
                        <a:spcAft>
                          <a:spcPts val="1000"/>
                        </a:spcAft>
                        <a:buNone/>
                      </a:pPr>
                      <a:r>
                        <a:rPr lang="ru-RU" sz="1400">
                          <a:effectLst/>
                        </a:rPr>
                        <a:t>Підхід</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ru-RU" sz="1400">
                          <a:effectLst/>
                        </a:rPr>
                        <a:t>Час</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6307679"/>
                  </a:ext>
                </a:extLst>
              </a:tr>
              <a:tr h="0">
                <a:tc>
                  <a:txBody>
                    <a:bodyPr/>
                    <a:lstStyle/>
                    <a:p>
                      <a:pPr algn="just">
                        <a:lnSpc>
                          <a:spcPct val="150000"/>
                        </a:lnSpc>
                        <a:spcAft>
                          <a:spcPts val="1000"/>
                        </a:spcAft>
                        <a:buNone/>
                      </a:pPr>
                      <a:r>
                        <a:rPr lang="ru-RU" sz="1400">
                          <a:effectLst/>
                        </a:rPr>
                        <a:t>Лише бі-енкодер</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dirty="0">
                          <a:effectLst/>
                        </a:rPr>
                        <a:t>10 000 × 16,60 = 166 с</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459563"/>
                  </a:ext>
                </a:extLst>
              </a:tr>
              <a:tr h="0">
                <a:tc>
                  <a:txBody>
                    <a:bodyPr/>
                    <a:lstStyle/>
                    <a:p>
                      <a:pPr algn="just">
                        <a:lnSpc>
                          <a:spcPct val="150000"/>
                        </a:lnSpc>
                        <a:spcAft>
                          <a:spcPts val="1000"/>
                        </a:spcAft>
                        <a:buNone/>
                      </a:pPr>
                      <a:r>
                        <a:rPr lang="ru-RU" sz="1400">
                          <a:effectLst/>
                        </a:rPr>
                        <a:t>Лише крос-енкодер</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dirty="0">
                          <a:effectLst/>
                        </a:rPr>
                        <a:t>10 000 × 28,48 = 284,8 с</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77235535"/>
                  </a:ext>
                </a:extLst>
              </a:tr>
              <a:tr h="0">
                <a:tc>
                  <a:txBody>
                    <a:bodyPr/>
                    <a:lstStyle/>
                    <a:p>
                      <a:pPr algn="just">
                        <a:lnSpc>
                          <a:spcPct val="150000"/>
                        </a:lnSpc>
                        <a:spcAft>
                          <a:spcPts val="1000"/>
                        </a:spcAft>
                        <a:buNone/>
                      </a:pPr>
                      <a:r>
                        <a:rPr lang="ru-RU" sz="1400">
                          <a:effectLst/>
                        </a:rPr>
                        <a:t>Комбінація (при відборі 100 речень)</a:t>
                      </a:r>
                      <a:endParaRPr lang="ru-R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1000"/>
                        </a:spcAft>
                        <a:buNone/>
                      </a:pPr>
                      <a:r>
                        <a:rPr lang="ru-RU" sz="1400" dirty="0">
                          <a:effectLst/>
                        </a:rPr>
                        <a:t>10 000 × 16,60 + 100 × 28,48 = 168,848 с</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7649655"/>
                  </a:ext>
                </a:extLst>
              </a:tr>
            </a:tbl>
          </a:graphicData>
        </a:graphic>
      </p:graphicFrame>
    </p:spTree>
    <p:extLst>
      <p:ext uri="{BB962C8B-B14F-4D97-AF65-F5344CB8AC3E}">
        <p14:creationId xmlns:p14="http://schemas.microsoft.com/office/powerpoint/2010/main" val="510696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268925"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Публікація результатів </a:t>
            </a:r>
            <a:endParaRPr sz="3200" dirty="0"/>
          </a:p>
        </p:txBody>
      </p:sp>
      <p:pic>
        <p:nvPicPr>
          <p:cNvPr id="136" name="Google Shape;136;p23"/>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5BB10B47-7B7A-16D3-B2F7-7BCD981C8FD9}"/>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15</a:t>
            </a:fld>
            <a:endParaRPr lang="uk-UA" dirty="0"/>
          </a:p>
        </p:txBody>
      </p:sp>
      <p:pic>
        <p:nvPicPr>
          <p:cNvPr id="8" name="Рисунок 7">
            <a:extLst>
              <a:ext uri="{FF2B5EF4-FFF2-40B4-BE49-F238E27FC236}">
                <a16:creationId xmlns:a16="http://schemas.microsoft.com/office/drawing/2014/main" id="{1D2A4530-EAA5-38DC-DAF8-77C9DDDC6437}"/>
              </a:ext>
            </a:extLst>
          </p:cNvPr>
          <p:cNvPicPr>
            <a:picLocks noChangeAspect="1"/>
          </p:cNvPicPr>
          <p:nvPr/>
        </p:nvPicPr>
        <p:blipFill>
          <a:blip r:embed="rId4"/>
          <a:stretch>
            <a:fillRect/>
          </a:stretch>
        </p:blipFill>
        <p:spPr>
          <a:xfrm>
            <a:off x="1642653" y="599800"/>
            <a:ext cx="5858693" cy="39439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528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Підсумки </a:t>
            </a:r>
            <a:endParaRPr sz="3200" dirty="0"/>
          </a:p>
        </p:txBody>
      </p:sp>
      <p:sp>
        <p:nvSpPr>
          <p:cNvPr id="142" name="Google Shape;142;p2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285750" indent="-285750"/>
            <a:r>
              <a:rPr lang="uk-UA" dirty="0"/>
              <a:t>Сформовано україномовний набір даних на 20 тисяч пар;</a:t>
            </a:r>
          </a:p>
          <a:p>
            <a:pPr marL="285750" indent="-285750"/>
            <a:r>
              <a:rPr lang="uk-UA" dirty="0"/>
              <a:t>Експериментально перевірено шість методів виявлення парафразів на трьох </a:t>
            </a:r>
            <a:r>
              <a:rPr lang="uk-UA" dirty="0" err="1"/>
              <a:t>датасетах</a:t>
            </a:r>
            <a:r>
              <a:rPr lang="uk-UA" dirty="0"/>
              <a:t>; </a:t>
            </a:r>
            <a:endParaRPr lang="uk-UA" b="1" dirty="0"/>
          </a:p>
          <a:p>
            <a:pPr marL="285750" indent="-285750"/>
            <a:r>
              <a:rPr lang="uk-UA" dirty="0"/>
              <a:t>Досліджено поведінку моделей при </a:t>
            </a:r>
            <a:r>
              <a:rPr lang="uk-UA" dirty="0" err="1"/>
              <a:t>донавчанні</a:t>
            </a:r>
            <a:r>
              <a:rPr lang="uk-UA" dirty="0"/>
              <a:t> на об’єднаному наборі даних</a:t>
            </a:r>
          </a:p>
          <a:p>
            <a:pPr marL="285750" indent="-285750"/>
            <a:r>
              <a:rPr lang="ru-RU" dirty="0" err="1"/>
              <a:t>Розроблено</a:t>
            </a:r>
            <a:r>
              <a:rPr lang="ru-RU" dirty="0"/>
              <a:t> прототип </a:t>
            </a:r>
            <a:r>
              <a:rPr lang="ru-RU" dirty="0" err="1"/>
              <a:t>системи</a:t>
            </a:r>
            <a:r>
              <a:rPr lang="ru-RU" dirty="0"/>
              <a:t>, </a:t>
            </a:r>
            <a:r>
              <a:rPr lang="ru-RU" dirty="0" err="1"/>
              <a:t>що</a:t>
            </a:r>
            <a:r>
              <a:rPr lang="ru-RU" dirty="0"/>
              <a:t> </a:t>
            </a:r>
            <a:r>
              <a:rPr lang="ru-RU" dirty="0" err="1"/>
              <a:t>поєднує</a:t>
            </a:r>
            <a:r>
              <a:rPr lang="ru-RU" dirty="0"/>
              <a:t> </a:t>
            </a:r>
            <a:r>
              <a:rPr lang="ru-RU" dirty="0" err="1"/>
              <a:t>моделі</a:t>
            </a:r>
            <a:r>
              <a:rPr lang="ru-RU" dirty="0"/>
              <a:t>, </a:t>
            </a:r>
            <a:r>
              <a:rPr lang="ru-RU" dirty="0" err="1"/>
              <a:t>які</a:t>
            </a:r>
            <a:r>
              <a:rPr lang="ru-RU" dirty="0"/>
              <a:t> </a:t>
            </a:r>
            <a:r>
              <a:rPr lang="ru-RU" dirty="0" err="1"/>
              <a:t>було</a:t>
            </a:r>
            <a:r>
              <a:rPr lang="ru-RU" dirty="0"/>
              <a:t> </a:t>
            </a:r>
            <a:r>
              <a:rPr lang="ru-RU" dirty="0" err="1"/>
              <a:t>обрано</a:t>
            </a:r>
            <a:r>
              <a:rPr lang="ru-RU" dirty="0"/>
              <a:t> на </a:t>
            </a:r>
            <a:r>
              <a:rPr lang="ru-RU" dirty="0" err="1"/>
              <a:t>основі</a:t>
            </a:r>
            <a:r>
              <a:rPr lang="ru-RU" dirty="0"/>
              <a:t> </a:t>
            </a:r>
            <a:r>
              <a:rPr lang="ru-RU" dirty="0" err="1"/>
              <a:t>отриманих</a:t>
            </a:r>
            <a:r>
              <a:rPr lang="ru-RU" dirty="0"/>
              <a:t> </a:t>
            </a:r>
            <a:r>
              <a:rPr lang="ru-RU" dirty="0" err="1"/>
              <a:t>результатів</a:t>
            </a:r>
            <a:endParaRPr dirty="0">
              <a:latin typeface="Economica" panose="020B0604020202020204" charset="0"/>
            </a:endParaRPr>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2B5B94D8-63F6-7EAC-6461-2DB4B135596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16</a:t>
            </a:fld>
            <a:endParaRPr lang="uk-UA"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926B49-8980-D006-53BF-18C602878818}"/>
              </a:ext>
            </a:extLst>
          </p:cNvPr>
          <p:cNvSpPr>
            <a:spLocks noGrp="1"/>
          </p:cNvSpPr>
          <p:nvPr>
            <p:ph type="title"/>
          </p:nvPr>
        </p:nvSpPr>
        <p:spPr/>
        <p:txBody>
          <a:bodyPr/>
          <a:lstStyle/>
          <a:p>
            <a:r>
              <a:rPr lang="uk-UA" dirty="0"/>
              <a:t>Демонстрація</a:t>
            </a:r>
            <a:endParaRPr lang="LID4096" dirty="0"/>
          </a:p>
        </p:txBody>
      </p:sp>
    </p:spTree>
    <p:extLst>
      <p:ext uri="{BB962C8B-B14F-4D97-AF65-F5344CB8AC3E}">
        <p14:creationId xmlns:p14="http://schemas.microsoft.com/office/powerpoint/2010/main" val="629123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CB1F72-21CA-D914-7898-1571D648C7D7}"/>
              </a:ext>
            </a:extLst>
          </p:cNvPr>
          <p:cNvSpPr>
            <a:spLocks noGrp="1"/>
          </p:cNvSpPr>
          <p:nvPr>
            <p:ph type="title"/>
          </p:nvPr>
        </p:nvSpPr>
        <p:spPr/>
        <p:txBody>
          <a:bodyPr/>
          <a:lstStyle/>
          <a:p>
            <a:r>
              <a:rPr lang="uk-UA" dirty="0"/>
              <a:t>Дякую за увагу!</a:t>
            </a:r>
            <a:endParaRPr lang="LID4096" dirty="0"/>
          </a:p>
        </p:txBody>
      </p:sp>
    </p:spTree>
    <p:extLst>
      <p:ext uri="{BB962C8B-B14F-4D97-AF65-F5344CB8AC3E}">
        <p14:creationId xmlns:p14="http://schemas.microsoft.com/office/powerpoint/2010/main" val="753219942"/>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 презентації кваліфікаційної роботи магістрів" id="{72E840FA-3155-46C9-BB37-701E4C9B1C67}" vid="{DC416FE5-D050-4603-AD75-8F49A0CCCB6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Шаблон_презентації_кваліфікаційної_роботи_магістрів</Template>
  <TotalTime>286</TotalTime>
  <Words>2230</Words>
  <Application>Microsoft Office PowerPoint</Application>
  <PresentationFormat>Екран (16:9)</PresentationFormat>
  <Paragraphs>199</Paragraphs>
  <Slides>18</Slides>
  <Notes>16</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18</vt:i4>
      </vt:variant>
    </vt:vector>
  </HeadingPairs>
  <TitlesOfParts>
    <vt:vector size="23" baseType="lpstr">
      <vt:lpstr>Open Sans</vt:lpstr>
      <vt:lpstr>Calibri</vt:lpstr>
      <vt:lpstr>Economica</vt:lpstr>
      <vt:lpstr>Arial</vt:lpstr>
      <vt:lpstr>Luxe</vt:lpstr>
      <vt:lpstr>Дослідження методів виявлення парафразів  у текстових даних для автоматичного визначення плагіату</vt:lpstr>
      <vt:lpstr>Актуальність дослідження</vt:lpstr>
      <vt:lpstr>Об’єкт, предмет та наукова програлина</vt:lpstr>
      <vt:lpstr>Огляд літератури: методи</vt:lpstr>
      <vt:lpstr>Огляд літератури: українська мова</vt:lpstr>
      <vt:lpstr>Постановка задачі</vt:lpstr>
      <vt:lpstr>Методологія </vt:lpstr>
      <vt:lpstr>Використанні технології</vt:lpstr>
      <vt:lpstr>Архітектура система</vt:lpstr>
      <vt:lpstr>Формування набору даних українською мовою</vt:lpstr>
      <vt:lpstr>Результати експерименту: точність</vt:lpstr>
      <vt:lpstr>Аналіз отриманих результатів </vt:lpstr>
      <vt:lpstr>Результати експерименту: швидкодія</vt:lpstr>
      <vt:lpstr>Обґрунтування запропонованого підходу</vt:lpstr>
      <vt:lpstr>Публікація результатів </vt:lpstr>
      <vt:lpstr>Підсумки </vt:lpstr>
      <vt:lpstr>Демонстрація</vt:lpstr>
      <vt:lpstr>Дякую за увагу!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Анатолій Мандзинець</dc:creator>
  <cp:lastModifiedBy>Анатолій Мандзинець</cp:lastModifiedBy>
  <cp:revision>38</cp:revision>
  <dcterms:created xsi:type="dcterms:W3CDTF">2026-05-22T09:36:29Z</dcterms:created>
  <dcterms:modified xsi:type="dcterms:W3CDTF">2026-05-24T10:14:39Z</dcterms:modified>
</cp:coreProperties>
</file>